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EDF0"/>
    <a:srgbClr val="FFF4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5" autoAdjust="0"/>
    <p:restoredTop sz="94610"/>
  </p:normalViewPr>
  <p:slideViewPr>
    <p:cSldViewPr snapToGrid="0" snapToObjects="1">
      <p:cViewPr>
        <p:scale>
          <a:sx n="150" d="100"/>
          <a:sy n="150" d="100"/>
        </p:scale>
        <p:origin x="63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Трудоемкость</c:v>
                </c:pt>
              </c:strCache>
            </c:strRef>
          </c:tx>
          <c:spPr>
            <a:solidFill>
              <a:srgbClr val="5E8ED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Проектирование</c:v>
                </c:pt>
                <c:pt idx="1">
                  <c:v>Разработка</c:v>
                </c:pt>
                <c:pt idx="2">
                  <c:v>Тестирование</c:v>
                </c:pt>
                <c:pt idx="3">
                  <c:v>Документы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140</c:v>
                </c:pt>
                <c:pt idx="2">
                  <c:v>50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E3-4D78-9C88-D885E81798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solidFill>
          <a:srgbClr val="F4F1E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1E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2400" b="1" i="0" u="none" strike="noStrike" kern="1200" cap="all" spc="50" baseline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defRPr>
            </a:pPr>
            <a:r>
              <a:rPr lang="ru-RU" sz="2400" b="0" kern="12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издержки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2400" b="1" i="0" u="none" strike="noStrike" kern="1200" cap="all" spc="50" baseline="0">
              <a:solidFill>
                <a:srgbClr val="2E4766"/>
              </a:solidFill>
              <a:latin typeface="Aptos "/>
              <a:ea typeface="Aptos" pitchFamily="34" charset="-122"/>
              <a:cs typeface="Aptos" pitchFamily="34" charset="-120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31286476564196974"/>
          <c:y val="0.20435904340614952"/>
          <c:w val="0.37427069126983842"/>
          <c:h val="0.60060649610109651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издержки</c:v>
                </c:pt>
              </c:strCache>
            </c:strRef>
          </c:tx>
          <c:dPt>
            <c:idx val="0"/>
            <c:bubble3D val="0"/>
            <c:spPr>
              <a:solidFill>
                <a:srgbClr val="D8EDF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3617-49BF-AB79-9E6F2A53780F}"/>
              </c:ext>
            </c:extLst>
          </c:dPt>
          <c:dPt>
            <c:idx val="1"/>
            <c:bubble3D val="0"/>
            <c:spPr>
              <a:solidFill>
                <a:srgbClr val="FFF4E7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3617-49BF-AB79-9E6F2A53780F}"/>
              </c:ext>
            </c:extLst>
          </c:dPt>
          <c:dLbls>
            <c:dLbl>
              <c:idx val="0"/>
              <c:layout>
                <c:manualLayout>
                  <c:x val="0.22070146280147135"/>
                  <c:y val="-0.1518704522613783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901B1D1-C724-4F46-8C87-67C9D5552BB2}" type="VALUE">
                      <a:rPr lang="en-US" b="0" smtClean="0">
                        <a:solidFill>
                          <a:schemeClr val="tx1"/>
                        </a:solidFill>
                      </a:rPr>
                      <a:pPr>
                        <a:defRPr b="0"/>
                      </a:pPr>
                      <a:t>[ЗНАЧЕНИЕ]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3617-49BF-AB79-9E6F2A53780F}"/>
                </c:ext>
              </c:extLst>
            </c:dLbl>
            <c:dLbl>
              <c:idx val="1"/>
              <c:layout>
                <c:manualLayout>
                  <c:x val="-0.23663609074496761"/>
                  <c:y val="0.13009273511813138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9EE1CB8-8EAB-4CB7-868A-766C274AE73C}" type="VALUE">
                      <a:rPr lang="en-US" b="0" smtClean="0">
                        <a:solidFill>
                          <a:schemeClr val="tx1"/>
                        </a:solidFill>
                      </a:rPr>
                      <a:pPr>
                        <a:defRPr b="0">
                          <a:solidFill>
                            <a:schemeClr val="tx1"/>
                          </a:solidFill>
                        </a:defRPr>
                      </a:pPr>
                      <a:t>[ЗНАЧЕНИЕ]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617-49BF-AB79-9E6F2A53780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Лист1!$A$2:$A$3</c:f>
              <c:strCache>
                <c:ptCount val="2"/>
                <c:pt idx="0">
                  <c:v>Постоянные</c:v>
                </c:pt>
                <c:pt idx="1">
                  <c:v>Переменные</c:v>
                </c:pt>
              </c:strCache>
            </c:strRef>
          </c:cat>
          <c:val>
            <c:numRef>
              <c:f>Лист1!$B$2:$B$3</c:f>
              <c:numCache>
                <c:formatCode>0.00%</c:formatCode>
                <c:ptCount val="2"/>
                <c:pt idx="0">
                  <c:v>0.98340000000000005</c:v>
                </c:pt>
                <c:pt idx="1">
                  <c:v>1.66E-2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17-49BF-AB79-9E6F2A53780F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3619298617317888"/>
          <c:y val="0.84043995431457941"/>
          <c:w val="0.5332668936121725"/>
          <c:h val="9.870007978520138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Эффект, руб./год</c:v>
                </c:pt>
              </c:strCache>
            </c:strRef>
          </c:tx>
          <c:spPr>
            <a:solidFill>
              <a:srgbClr val="2BA0B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ч → 0,5 ч</c:v>
                </c:pt>
                <c:pt idx="1">
                  <c:v>3 ч → 0,5 ч</c:v>
                </c:pt>
                <c:pt idx="2">
                  <c:v>5 ч → 0,5 ч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32500</c:v>
                </c:pt>
                <c:pt idx="1">
                  <c:v>162500</c:v>
                </c:pt>
                <c:pt idx="2">
                  <c:v>292500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AC-4527-99B2-AD85DD2DD0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ru-RU"/>
          </a:p>
        </c:txPr>
        <c:crossAx val="2094734554"/>
        <c:crosses val="autoZero"/>
        <c:crossBetween val="between"/>
        <c:majorUnit val="50000"/>
      </c:valAx>
      <c:spPr>
        <a:solidFill>
          <a:srgbClr val="F4F1E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1EB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896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presentation template; title illustration cropped from slide 1.
- User-provided course paper: /mnt/data/Гумаров_ИС-222б_экономика.docx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/mnt/data/Гумаров_ИС-222б_экономика.docx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sections 1–2.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section 3.1, table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tables 3,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section 3.3 and supervisor consultation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tables 8–9 and formulas (7), (9).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conclusion and section 3.3.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0EA"/>
          </a:solidFill>
          <a:ln w="12700">
            <a:solidFill>
              <a:srgbClr val="F3F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85800"/>
            <a:ext cx="11247120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7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24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51760" y="822960"/>
            <a:ext cx="0" cy="521208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73806" y="2011680"/>
            <a:ext cx="766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400" i="1" dirty="0">
                <a:solidFill>
                  <a:srgbClr val="43505B"/>
                </a:solidFill>
                <a:latin typeface="Aptos "/>
                <a:ea typeface="Roboto" panose="020B0604020202020204"/>
              </a:rPr>
              <a:t>Расчет экономической эффективности проектирования и разработки серверной части системы управления корпоративной базой знаний с интеллектуальным поиском с помощью чат-бота </a:t>
            </a:r>
          </a:p>
          <a:p>
            <a:r>
              <a:rPr lang="ru-RU" sz="2400" b="1" i="1" dirty="0">
                <a:latin typeface="Aptos "/>
                <a:ea typeface="Roboto" panose="020B0604020202020204"/>
              </a:rPr>
              <a:t>на примере ООО «БС-Платформа»</a:t>
            </a:r>
            <a:endParaRPr lang="ru-RU" sz="2400" b="1" dirty="0">
              <a:latin typeface="Aptos "/>
              <a:ea typeface="Roboto" panose="020B060402020202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4127500" y="942848"/>
            <a:ext cx="786765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650"/>
              </a:lnSpc>
            </a:pP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</a:rPr>
              <a:t>Курсовая</a:t>
            </a: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</a:rPr>
              <a:t> </a:t>
            </a: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</a:rPr>
              <a:t>работа</a:t>
            </a: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</a:rPr>
              <a:t> </a:t>
            </a: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</a:rPr>
              <a:t>по</a:t>
            </a: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</a:rPr>
              <a:t> </a:t>
            </a: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</a:rPr>
              <a:t>дисциплине</a:t>
            </a: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</a:rPr>
              <a:t> ОПД.07 </a:t>
            </a: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</a:rPr>
              <a:t>Экономика</a:t>
            </a: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</a:rPr>
              <a:t> </a:t>
            </a: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</a:rPr>
              <a:t>отрасли</a:t>
            </a:r>
            <a:endParaRPr lang="en-US" sz="2400" dirty="0">
              <a:solidFill>
                <a:srgbClr val="2E4766"/>
              </a:solidFill>
              <a:latin typeface="Aptos "/>
              <a:ea typeface="Aptos" pitchFamily="3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7719646" y="560019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E6F80"/>
                </a:solidFill>
                <a:latin typeface="Aptos "/>
              </a:rPr>
              <a:t>Гумаров Т. Р.  </a:t>
            </a:r>
            <a:r>
              <a:rPr lang="en-US" sz="2400" b="1" dirty="0" err="1">
                <a:solidFill>
                  <a:srgbClr val="5E6F80"/>
                </a:solidFill>
                <a:latin typeface="Aptos "/>
              </a:rPr>
              <a:t>группа</a:t>
            </a:r>
            <a:r>
              <a:rPr lang="en-US" sz="2400" b="1" dirty="0">
                <a:solidFill>
                  <a:srgbClr val="5E6F80"/>
                </a:solidFill>
                <a:latin typeface="Aptos "/>
              </a:rPr>
              <a:t> ИС-222б</a:t>
            </a:r>
            <a:endParaRPr lang="en-US" sz="2400" b="1" dirty="0">
              <a:latin typeface="Aptos 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2" r="4126"/>
          <a:stretch/>
        </p:blipFill>
        <p:spPr>
          <a:xfrm>
            <a:off x="-289058" y="-166401"/>
            <a:ext cx="4332794" cy="71332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Актуальность, цель и задачи исследования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03961"/>
            <a:ext cx="1600200" cy="188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Введение</a:t>
            </a:r>
            <a:endParaRPr lang="en-US" sz="960" dirty="0">
              <a:latin typeface="Aptos 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3794760" cy="1828800"/>
          </a:xfrm>
          <a:prstGeom prst="roundRect">
            <a:avLst>
              <a:gd name="adj" fmla="val 4000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704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4766"/>
                </a:solidFill>
                <a:latin typeface="Aptos "/>
              </a:rPr>
              <a:t>Актуальность</a:t>
            </a:r>
            <a:endParaRPr lang="en-US" sz="1500" dirty="0">
              <a:latin typeface="Aptos 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444752"/>
            <a:ext cx="33375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 "/>
              </a:rPr>
              <a:t>Рост объема корпоративной информации усложняет поиск знаний. Для ООО «БС-Платформа» важны централизация документации, интеллектуальный поиск и снижение времени на повторяющиеся консультации.</a:t>
            </a:r>
            <a:endParaRPr lang="en-US" sz="1350" dirty="0">
              <a:latin typeface="Aptos 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17720" y="1005840"/>
            <a:ext cx="2880360" cy="1828800"/>
          </a:xfrm>
          <a:prstGeom prst="roundRect">
            <a:avLst>
              <a:gd name="adj" fmla="val 4000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704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4766"/>
                </a:solidFill>
                <a:latin typeface="Aptos "/>
              </a:rPr>
              <a:t>Цель работы</a:t>
            </a:r>
            <a:endParaRPr lang="en-US" sz="1500" dirty="0">
              <a:latin typeface="Aptos 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0" y="1444752"/>
            <a:ext cx="24231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 "/>
              </a:rPr>
              <a:t>Оценить экономическую целесообразность разработки серверной части системы управления корпоративной базой знаний с чат-ботом.</a:t>
            </a:r>
            <a:endParaRPr lang="en-US" sz="1350" dirty="0">
              <a:latin typeface="Aptos 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8096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59" y="1170432"/>
            <a:ext cx="2224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4766"/>
                </a:solidFill>
                <a:latin typeface="Aptos "/>
              </a:rPr>
              <a:t>Ожидаемый результат</a:t>
            </a:r>
            <a:endParaRPr lang="en-US" sz="1500" dirty="0">
              <a:latin typeface="Aptos 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09559" y="1373656"/>
            <a:ext cx="33375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 "/>
              </a:rPr>
              <a:t>Снижение времени поиска информации, уменьшение нагрузки на опытных специалистов и ускорение онбординга сотрудников.</a:t>
            </a:r>
            <a:endParaRPr lang="en-US" sz="1350" dirty="0">
              <a:latin typeface="Aptos 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4952" y="3577235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766"/>
                </a:solidFill>
                <a:latin typeface="Aptos "/>
              </a:rPr>
              <a:t>Задачи исследования</a:t>
            </a:r>
            <a:endParaRPr lang="en-US" sz="1700" dirty="0">
              <a:latin typeface="Aptos "/>
            </a:endParaRPr>
          </a:p>
        </p:txBody>
      </p:sp>
      <p:grpSp>
        <p:nvGrpSpPr>
          <p:cNvPr id="28" name="Группа 27"/>
          <p:cNvGrpSpPr/>
          <p:nvPr/>
        </p:nvGrpSpPr>
        <p:grpSpPr>
          <a:xfrm>
            <a:off x="982980" y="4180738"/>
            <a:ext cx="3108960" cy="1517904"/>
            <a:chOff x="685800" y="3657600"/>
            <a:chExt cx="3108960" cy="1517904"/>
          </a:xfrm>
        </p:grpSpPr>
        <p:sp>
          <p:nvSpPr>
            <p:cNvPr id="16" name="Text 14"/>
            <p:cNvSpPr/>
            <p:nvPr/>
          </p:nvSpPr>
          <p:spPr>
            <a:xfrm>
              <a:off x="685800" y="3657600"/>
              <a:ext cx="457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BA0B0"/>
                  </a:solidFill>
                  <a:latin typeface="Aptos "/>
                </a:rPr>
                <a:t>01</a:t>
              </a:r>
              <a:endParaRPr lang="en-US" sz="1600" dirty="0">
                <a:latin typeface="Aptos 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685800" y="3977640"/>
              <a:ext cx="2880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2E4766"/>
                  </a:solidFill>
                  <a:latin typeface="Aptos "/>
                </a:rPr>
                <a:t>Теоретическая база</a:t>
              </a:r>
              <a:endParaRPr lang="en-US" sz="1500" dirty="0">
                <a:latin typeface="Aptos 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685800" y="4261104"/>
              <a:ext cx="3108960" cy="9144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320" dirty="0">
                  <a:solidFill>
                    <a:srgbClr val="334155"/>
                  </a:solidFill>
                  <a:latin typeface="Aptos "/>
                </a:rPr>
                <a:t>Рассмотреть состав и структуру собственного и заемного капитала предприятия.</a:t>
              </a:r>
              <a:endParaRPr lang="en-US" sz="1320" dirty="0">
                <a:latin typeface="Aptos "/>
              </a:endParaRPr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4360597" y="4173778"/>
            <a:ext cx="3108960" cy="1418577"/>
            <a:chOff x="3977640" y="3657600"/>
            <a:chExt cx="3108960" cy="1418577"/>
          </a:xfrm>
        </p:grpSpPr>
        <p:sp>
          <p:nvSpPr>
            <p:cNvPr id="19" name="Text 17"/>
            <p:cNvSpPr/>
            <p:nvPr/>
          </p:nvSpPr>
          <p:spPr>
            <a:xfrm>
              <a:off x="3977640" y="3657600"/>
              <a:ext cx="457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BA0B0"/>
                  </a:solidFill>
                  <a:latin typeface="Aptos "/>
                </a:rPr>
                <a:t>02</a:t>
              </a:r>
              <a:endParaRPr lang="en-US" sz="1600" dirty="0">
                <a:latin typeface="Aptos 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3977640" y="3986029"/>
              <a:ext cx="2880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2E4766"/>
                  </a:solidFill>
                  <a:latin typeface="Aptos "/>
                </a:rPr>
                <a:t>Расчет затрат</a:t>
              </a:r>
              <a:endParaRPr lang="en-US" sz="1500" dirty="0">
                <a:latin typeface="Aptos 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3977640" y="4161777"/>
              <a:ext cx="3108960" cy="9144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320" dirty="0">
                  <a:solidFill>
                    <a:srgbClr val="334155"/>
                  </a:solidFill>
                  <a:latin typeface="Aptos "/>
                </a:rPr>
                <a:t>Определить величину затрат на проектирование и разработку системы.</a:t>
              </a:r>
              <a:endParaRPr lang="en-US" sz="1320" dirty="0">
                <a:latin typeface="Aptos "/>
              </a:endParaRPr>
            </a:p>
          </p:txBody>
        </p:sp>
      </p:grpSp>
      <p:grpSp>
        <p:nvGrpSpPr>
          <p:cNvPr id="26" name="Группа 25"/>
          <p:cNvGrpSpPr/>
          <p:nvPr/>
        </p:nvGrpSpPr>
        <p:grpSpPr>
          <a:xfrm>
            <a:off x="8023860" y="4177300"/>
            <a:ext cx="3108960" cy="1517904"/>
            <a:chOff x="7452360" y="3657600"/>
            <a:chExt cx="3108960" cy="1517904"/>
          </a:xfrm>
        </p:grpSpPr>
        <p:sp>
          <p:nvSpPr>
            <p:cNvPr id="22" name="Text 20"/>
            <p:cNvSpPr/>
            <p:nvPr/>
          </p:nvSpPr>
          <p:spPr>
            <a:xfrm>
              <a:off x="7452360" y="3657600"/>
              <a:ext cx="457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BA0B0"/>
                  </a:solidFill>
                  <a:latin typeface="Aptos "/>
                </a:rPr>
                <a:t>03</a:t>
              </a:r>
              <a:endParaRPr lang="en-US" sz="1600" dirty="0">
                <a:latin typeface="Aptos 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7452360" y="3977640"/>
              <a:ext cx="2880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500" b="1" dirty="0">
                  <a:solidFill>
                    <a:srgbClr val="2E4766"/>
                  </a:solidFill>
                  <a:latin typeface="Aptos "/>
                </a:rPr>
                <a:t>Эффективность внедрения</a:t>
              </a:r>
            </a:p>
          </p:txBody>
        </p:sp>
        <p:sp>
          <p:nvSpPr>
            <p:cNvPr id="24" name="Text 22"/>
            <p:cNvSpPr/>
            <p:nvPr/>
          </p:nvSpPr>
          <p:spPr>
            <a:xfrm>
              <a:off x="7452360" y="4261104"/>
              <a:ext cx="3108960" cy="9144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320" dirty="0">
                  <a:solidFill>
                    <a:srgbClr val="334155"/>
                  </a:solidFill>
                  <a:latin typeface="Aptos "/>
                </a:rPr>
                <a:t>Рассчитать годовой экономический эффект, коэффициент эффективности и срок окупаемости.</a:t>
              </a:r>
              <a:endParaRPr lang="en-US" sz="1320" dirty="0">
                <a:latin typeface="Aptos 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Собственный и заемный капитал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2709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60" dirty="0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Капитал</a:t>
            </a:r>
            <a:endParaRPr lang="en-US" sz="960" dirty="0">
              <a:latin typeface="Aptos 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0058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00584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EEF3EE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070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4766"/>
                </a:solidFill>
                <a:latin typeface="Aptos "/>
              </a:rPr>
              <a:t>Собственный капитал</a:t>
            </a:r>
            <a:endParaRPr lang="en-US" sz="1800" dirty="0">
              <a:latin typeface="Aptos 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1572768"/>
            <a:ext cx="46634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формируется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за счет уставного капитала и прибыли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не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требует возврата и выплаты процентов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снижает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финансовые риски проекта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обеспечивает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контроль над сроками и бюджетом разработки</a:t>
            </a:r>
            <a:endParaRPr lang="en-US" sz="1400" dirty="0">
              <a:latin typeface="Aptos 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46520" y="1207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55944"/>
                </a:solidFill>
                <a:latin typeface="Aptos "/>
              </a:rPr>
              <a:t>Заемный капитал</a:t>
            </a:r>
            <a:endParaRPr lang="en-US" sz="1800" dirty="0">
              <a:latin typeface="Aptos 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46520" y="1572768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привлекается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на условиях возвратности и платности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ускоряет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реализацию крупных проектов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увеличивает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долговую нагрузку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требует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обслуживания процентов и снижает финансовую устойчивость</a:t>
            </a:r>
            <a:endParaRPr lang="en-US" sz="1400" dirty="0">
              <a:latin typeface="Aptos 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" y="4069080"/>
            <a:ext cx="10808208" cy="1554480"/>
          </a:xfrm>
          <a:prstGeom prst="roundRect">
            <a:avLst>
              <a:gd name="adj" fmla="val 4706"/>
            </a:avLst>
          </a:prstGeom>
          <a:solidFill>
            <a:srgbClr val="D7EBEF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297680"/>
            <a:ext cx="42213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2E4766"/>
                </a:solidFill>
                <a:latin typeface="Aptos "/>
              </a:rPr>
              <a:t>Вывод</a:t>
            </a:r>
            <a:r>
              <a:rPr lang="en-US" sz="1700" b="1" dirty="0">
                <a:solidFill>
                  <a:srgbClr val="2E4766"/>
                </a:solidFill>
                <a:latin typeface="Aptos "/>
              </a:rPr>
              <a:t> для проекта ООО «БС-Платформа»</a:t>
            </a:r>
            <a:endParaRPr lang="en-US" sz="1700" dirty="0">
              <a:latin typeface="Aptos 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7280" y="4617720"/>
            <a:ext cx="99669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ptos "/>
              </a:rPr>
              <a:t>Разработка ведется силами внутренних специалистов и направлена на оптимизацию внутренних процессов компании, поэтому наиболее рационально использовать собственный капитал предприятия.</a:t>
            </a:r>
            <a:endParaRPr lang="en-US" sz="1420" dirty="0">
              <a:latin typeface="Aptos 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Проект и предметная область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2709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60" dirty="0">
                <a:solidFill>
                  <a:srgbClr val="5E6F80"/>
                </a:solidFill>
                <a:latin typeface="Aptos "/>
                <a:ea typeface="Aptos" pitchFamily="34" charset="-122"/>
              </a:rPr>
              <a:t>П</a:t>
            </a:r>
            <a:r>
              <a:rPr lang="en-US" sz="960" dirty="0" err="1">
                <a:solidFill>
                  <a:srgbClr val="5E6F80"/>
                </a:solidFill>
                <a:latin typeface="Aptos "/>
                <a:ea typeface="Aptos" pitchFamily="34" charset="-122"/>
              </a:rPr>
              <a:t>редметная</a:t>
            </a:r>
            <a:r>
              <a:rPr lang="en-US" sz="960" dirty="0">
                <a:solidFill>
                  <a:srgbClr val="5E6F80"/>
                </a:solidFill>
                <a:latin typeface="Aptos "/>
                <a:ea typeface="Aptos" pitchFamily="34" charset="-122"/>
              </a:rPr>
              <a:t> </a:t>
            </a:r>
            <a:r>
              <a:rPr lang="en-US" sz="960" dirty="0" err="1">
                <a:solidFill>
                  <a:srgbClr val="5E6F80"/>
                </a:solidFill>
                <a:latin typeface="Aptos "/>
                <a:ea typeface="Aptos" pitchFamily="34" charset="-122"/>
              </a:rPr>
              <a:t>область</a:t>
            </a:r>
            <a:endParaRPr lang="en-US" sz="960" dirty="0">
              <a:solidFill>
                <a:srgbClr val="5E6F80"/>
              </a:solidFill>
              <a:latin typeface="Aptos "/>
              <a:ea typeface="Aptos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005840"/>
            <a:ext cx="3840480" cy="2240280"/>
          </a:xfrm>
          <a:prstGeom prst="roundRect">
            <a:avLst>
              <a:gd name="adj" fmla="val 3265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887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766"/>
                </a:solidFill>
                <a:latin typeface="Aptos "/>
              </a:rPr>
              <a:t>ООО «БС-Платформа»</a:t>
            </a:r>
            <a:endParaRPr lang="en-US" sz="1700" dirty="0">
              <a:latin typeface="Aptos 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684803"/>
            <a:ext cx="33832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 "/>
              </a:rPr>
              <a:t>Компания развивает корпоративные ИТ-решения. Для неё критично быстро находить внутренние инструкции, архитектурные описания и накопленные знания специалистов.</a:t>
            </a:r>
            <a:endParaRPr lang="en-US" sz="1400" dirty="0">
              <a:latin typeface="Aptos 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3063240" cy="2240280"/>
          </a:xfrm>
          <a:prstGeom prst="roundRect">
            <a:avLst>
              <a:gd name="adj" fmla="val 3265"/>
            </a:avLst>
          </a:prstGeom>
          <a:solidFill>
            <a:srgbClr val="EEF3EE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887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55944"/>
                </a:solidFill>
                <a:latin typeface="Aptos "/>
              </a:rPr>
              <a:t>Разрабатываемая система</a:t>
            </a:r>
            <a:endParaRPr lang="en-US" sz="1700" dirty="0">
              <a:latin typeface="Aptos 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99170" y="1709927"/>
            <a:ext cx="2683219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серверная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часть на </a:t>
            </a:r>
            <a:r>
              <a:rPr lang="en-US" sz="1400" dirty="0" err="1">
                <a:solidFill>
                  <a:srgbClr val="334155"/>
                </a:solidFill>
                <a:latin typeface="Aptos "/>
              </a:rPr>
              <a:t>Kotlin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/ Spring Boot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 "/>
              </a:rPr>
              <a:t>PostgreSQL + MongoDB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интеллектуальный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поиск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чат-бот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для работы с базой знаний</a:t>
            </a:r>
            <a:endParaRPr lang="en-US" sz="1400" dirty="0">
              <a:latin typeface="Aptos 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55280" y="10058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1188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766"/>
                </a:solidFill>
                <a:latin typeface="Aptos "/>
              </a:rPr>
              <a:t>Практический эффект</a:t>
            </a:r>
            <a:endParaRPr lang="en-US" sz="1700" dirty="0">
              <a:latin typeface="Aptos 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61019" y="1729768"/>
            <a:ext cx="3206063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быстрее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поиск информации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меньше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повторных консультаций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ускорение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адаптации новых сотрудников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централизованное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хранение знаний</a:t>
            </a:r>
            <a:endParaRPr lang="en-US" sz="1400" dirty="0">
              <a:latin typeface="Aptos 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3552486"/>
            <a:ext cx="3008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766"/>
                </a:solidFill>
                <a:latin typeface="Aptos "/>
              </a:rPr>
              <a:t>Логика ценности проекта</a:t>
            </a:r>
            <a:endParaRPr lang="en-US" sz="1700" dirty="0">
              <a:latin typeface="Aptos 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" y="411480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416552"/>
            <a:ext cx="2560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Разрозненные знания</a:t>
            </a:r>
            <a:endParaRPr lang="en-US" sz="1600" dirty="0">
              <a:latin typeface="Aptos "/>
            </a:endParaRP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A6DEF5CD-A605-4561-8F66-935F39D0E696}"/>
              </a:ext>
            </a:extLst>
          </p:cNvPr>
          <p:cNvGrpSpPr/>
          <p:nvPr/>
        </p:nvGrpSpPr>
        <p:grpSpPr>
          <a:xfrm>
            <a:off x="4640580" y="4114800"/>
            <a:ext cx="2880360" cy="1051560"/>
            <a:chOff x="4069080" y="4114800"/>
            <a:chExt cx="2880360" cy="1051560"/>
          </a:xfrm>
        </p:grpSpPr>
        <p:sp>
          <p:nvSpPr>
            <p:cNvPr id="18" name="Shape 16"/>
            <p:cNvSpPr/>
            <p:nvPr/>
          </p:nvSpPr>
          <p:spPr>
            <a:xfrm>
              <a:off x="4069080" y="4114800"/>
              <a:ext cx="2880360" cy="1051560"/>
            </a:xfrm>
            <a:prstGeom prst="roundRect">
              <a:avLst>
                <a:gd name="adj" fmla="val 6957"/>
              </a:avLst>
            </a:prstGeom>
            <a:solidFill>
              <a:srgbClr val="D8EDF0"/>
            </a:solidFill>
            <a:ln w="12700">
              <a:solidFill>
                <a:srgbClr val="D9D4CA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233672" y="4416552"/>
              <a:ext cx="2560320" cy="38404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2E4766"/>
                  </a:solidFill>
                  <a:latin typeface="Aptos "/>
                </a:rPr>
                <a:t>Интеллектуальный поиск + чат-бот</a:t>
              </a:r>
              <a:endParaRPr lang="en-US" sz="1600" dirty="0">
                <a:latin typeface="Aptos "/>
              </a:endParaRPr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EFA430BA-51F9-486E-B045-0C8A2C882313}"/>
              </a:ext>
            </a:extLst>
          </p:cNvPr>
          <p:cNvGrpSpPr/>
          <p:nvPr/>
        </p:nvGrpSpPr>
        <p:grpSpPr>
          <a:xfrm>
            <a:off x="8383610" y="4114800"/>
            <a:ext cx="3168396" cy="1051560"/>
            <a:chOff x="7765542" y="4114800"/>
            <a:chExt cx="3168396" cy="1051560"/>
          </a:xfrm>
        </p:grpSpPr>
        <p:sp>
          <p:nvSpPr>
            <p:cNvPr id="20" name="Shape 18"/>
            <p:cNvSpPr/>
            <p:nvPr/>
          </p:nvSpPr>
          <p:spPr>
            <a:xfrm>
              <a:off x="7765542" y="4114800"/>
              <a:ext cx="3168396" cy="1051560"/>
            </a:xfrm>
            <a:prstGeom prst="roundRect">
              <a:avLst>
                <a:gd name="adj" fmla="val 6957"/>
              </a:avLst>
            </a:prstGeom>
            <a:solidFill>
              <a:srgbClr val="E8F2F5"/>
            </a:solidFill>
            <a:ln w="12700">
              <a:solidFill>
                <a:srgbClr val="D9D4CA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7946136" y="4416552"/>
              <a:ext cx="2816352" cy="38404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2E4766"/>
                  </a:solidFill>
                  <a:latin typeface="Aptos "/>
                </a:rPr>
                <a:t>Экономия времени и затрат</a:t>
              </a:r>
              <a:endParaRPr lang="en-US" sz="1600" dirty="0">
                <a:latin typeface="Aptos 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Перечень работ по стадиям проектирования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2709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60" dirty="0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Трудоемкость</a:t>
            </a:r>
            <a:endParaRPr lang="en-US" sz="960" dirty="0">
              <a:latin typeface="Aptos 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36596"/>
              </p:ext>
            </p:extLst>
          </p:nvPr>
        </p:nvGraphicFramePr>
        <p:xfrm>
          <a:off x="548640" y="1737360"/>
          <a:ext cx="6126480" cy="278892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Наименование этапа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Трудоемкость, чел·ч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Удельный вес, %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Исполнители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Проектирование ИС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40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16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Руководитель, программист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Разработка ИС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140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56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Программист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Тестирование ИС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50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20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Программист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Оформление документов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20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8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Программист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Итого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250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100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1 руководитель, 1 программист</a:t>
                      </a:r>
                      <a:endParaRPr lang="en-US" sz="125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165761396"/>
              </p:ext>
            </p:extLst>
          </p:nvPr>
        </p:nvGraphicFramePr>
        <p:xfrm>
          <a:off x="7086600" y="1234440"/>
          <a:ext cx="43891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7086600" y="4754880"/>
            <a:ext cx="4389120" cy="822960"/>
          </a:xfrm>
          <a:prstGeom prst="roundRect">
            <a:avLst>
              <a:gd name="adj" fmla="val 8889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4965192"/>
            <a:ext cx="3931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334155"/>
                </a:solidFill>
                <a:latin typeface="Aptos "/>
              </a:rPr>
              <a:t>Наибольшая доля трудозатрат приходится на разработку информационной системы — 140 чел·ч, или 56% от общего объема работ.</a:t>
            </a:r>
            <a:endParaRPr lang="en-US" sz="1320" dirty="0">
              <a:latin typeface="Aptos 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Структура</a:t>
            </a: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 </a:t>
            </a: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постоянных</a:t>
            </a: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 и переменных издержек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2709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60" dirty="0" err="1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Издержеки</a:t>
            </a:r>
            <a:endParaRPr lang="en-US" sz="960" dirty="0">
              <a:latin typeface="Aptos 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Постоянные издержки</a:t>
            </a:r>
            <a:endParaRPr lang="en-US" sz="1600" dirty="0">
              <a:latin typeface="Aptos 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625790"/>
              </p:ext>
            </p:extLst>
          </p:nvPr>
        </p:nvGraphicFramePr>
        <p:xfrm>
          <a:off x="640080" y="1234440"/>
          <a:ext cx="5166360" cy="1908048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315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Вид постоянных издержек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Затраты, руб.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Уд. вес,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Амортизационные отчисления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2 245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Текущий ремонт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561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Итого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2 806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9144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Переменные издержки</a:t>
            </a:r>
            <a:endParaRPr lang="en-US" sz="1600" dirty="0">
              <a:latin typeface="Aptos "/>
            </a:endParaRPr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527108"/>
              </p:ext>
            </p:extLst>
          </p:nvPr>
        </p:nvGraphicFramePr>
        <p:xfrm>
          <a:off x="6172200" y="1234440"/>
          <a:ext cx="5212080" cy="263347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Вид переменных издержек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Величина, руб.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Уд. вес,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Материальные затраты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2 358,24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1,42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Оплата труда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115 575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69,43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Страховые отчисления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34 672,5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20,83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Накладные расходы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13 869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8,33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Итого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166 474,74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A744E193-74D4-4A45-B314-92FC1109FB82}"/>
              </a:ext>
            </a:extLst>
          </p:cNvPr>
          <p:cNvGrpSpPr/>
          <p:nvPr/>
        </p:nvGrpSpPr>
        <p:grpSpPr>
          <a:xfrm>
            <a:off x="6217920" y="4160519"/>
            <a:ext cx="5166360" cy="1689947"/>
            <a:chOff x="685800" y="4160520"/>
            <a:chExt cx="10698480" cy="1115568"/>
          </a:xfrm>
        </p:grpSpPr>
        <p:sp>
          <p:nvSpPr>
            <p:cNvPr id="10" name="Shape 6"/>
            <p:cNvSpPr/>
            <p:nvPr/>
          </p:nvSpPr>
          <p:spPr>
            <a:xfrm>
              <a:off x="685800" y="4160520"/>
              <a:ext cx="10698480" cy="1115568"/>
            </a:xfrm>
            <a:prstGeom prst="roundRect">
              <a:avLst>
                <a:gd name="adj" fmla="val 6557"/>
              </a:avLst>
            </a:prstGeom>
            <a:solidFill>
              <a:srgbClr val="D8EDF0"/>
            </a:solidFill>
            <a:ln w="12700">
              <a:solidFill>
                <a:srgbClr val="D9D4CA"/>
              </a:solidFill>
              <a:prstDash val="solid"/>
            </a:ln>
          </p:spPr>
        </p:sp>
        <p:sp>
          <p:nvSpPr>
            <p:cNvPr id="11" name="Text 7"/>
            <p:cNvSpPr/>
            <p:nvPr/>
          </p:nvSpPr>
          <p:spPr>
            <a:xfrm>
              <a:off x="865578" y="4389120"/>
              <a:ext cx="3354823" cy="6023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E4766"/>
                  </a:solidFill>
                  <a:latin typeface="Aptos "/>
                </a:rPr>
                <a:t>Ключевой вывод</a:t>
              </a:r>
              <a:endParaRPr lang="en-US" sz="1600" dirty="0">
                <a:latin typeface="Aptos "/>
              </a:endParaRPr>
            </a:p>
          </p:txBody>
        </p:sp>
        <p:sp>
          <p:nvSpPr>
            <p:cNvPr id="12" name="Text 8"/>
            <p:cNvSpPr/>
            <p:nvPr/>
          </p:nvSpPr>
          <p:spPr>
            <a:xfrm>
              <a:off x="4220401" y="4315381"/>
              <a:ext cx="6866699" cy="74980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/>
            <a:lstStyle/>
            <a:p>
              <a:pPr marL="0" indent="0">
                <a:buNone/>
              </a:pPr>
              <a:r>
                <a:rPr lang="en-US" sz="1360" dirty="0">
                  <a:solidFill>
                    <a:srgbClr val="334155"/>
                  </a:solidFill>
                  <a:latin typeface="Aptos "/>
                </a:rPr>
                <a:t>В структуре затрат доминируют переменные издержки, прежде всего оплата труда и страховые отчисления. Это типично для ИТ-проектов с высокой долей интеллектуального труда.</a:t>
              </a:r>
              <a:endParaRPr lang="en-US" sz="1360" dirty="0">
                <a:latin typeface="Aptos "/>
              </a:endParaRPr>
            </a:p>
          </p:txBody>
        </p:sp>
      </p:grpSp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CE4A94A7-C91E-45B5-9C3D-22C22A402F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7652508"/>
              </p:ext>
            </p:extLst>
          </p:nvPr>
        </p:nvGraphicFramePr>
        <p:xfrm>
          <a:off x="724481" y="3169157"/>
          <a:ext cx="4493296" cy="2800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</a:rPr>
              <a:t>Что предлагается и какие </a:t>
            </a: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</a:rPr>
              <a:t>проблемы</a:t>
            </a: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</a:rPr>
              <a:t> </a:t>
            </a: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</a:rPr>
              <a:t>решаются</a:t>
            </a:r>
            <a:endParaRPr lang="en-US" sz="2400" dirty="0">
              <a:solidFill>
                <a:srgbClr val="2E4766"/>
              </a:solidFill>
              <a:latin typeface="Aptos "/>
              <a:ea typeface="Aptos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3766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455C"/>
                </a:solidFill>
              </a:rPr>
              <a:t>Проблемы до внедрения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696720"/>
            <a:ext cx="5029200" cy="2286000"/>
          </a:xfrm>
          <a:prstGeom prst="roundRect">
            <a:avLst>
              <a:gd name="adj" fmla="val 2400"/>
            </a:avLst>
          </a:prstGeom>
          <a:solidFill>
            <a:srgbClr val="DDECF2"/>
          </a:solidFill>
          <a:ln w="12700">
            <a:solidFill>
              <a:srgbClr val="C7DBE3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1925320"/>
            <a:ext cx="46634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 err="1">
                <a:solidFill>
                  <a:srgbClr val="2F455C"/>
                </a:solidFill>
              </a:rPr>
              <a:t>длительный</a:t>
            </a:r>
            <a:r>
              <a:rPr lang="en-US" sz="1400" dirty="0">
                <a:solidFill>
                  <a:srgbClr val="2F455C"/>
                </a:solidFill>
              </a:rPr>
              <a:t> поиск документов и </a:t>
            </a:r>
            <a:r>
              <a:rPr lang="en-US" sz="1400" dirty="0" err="1">
                <a:solidFill>
                  <a:srgbClr val="2F455C"/>
                </a:solidFill>
              </a:rPr>
              <a:t>инструкций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endParaRPr lang="ru-RU" sz="1400" dirty="0">
              <a:solidFill>
                <a:srgbClr val="2F455C"/>
              </a:solidFill>
            </a:endParaRPr>
          </a:p>
          <a:p>
            <a:pPr marL="152400" indent="-152400">
              <a:buSzPct val="100000"/>
              <a:buChar char="•"/>
            </a:pPr>
            <a:r>
              <a:rPr lang="en-US" sz="1400" dirty="0" err="1">
                <a:solidFill>
                  <a:srgbClr val="2F455C"/>
                </a:solidFill>
              </a:rPr>
              <a:t>потеря</a:t>
            </a:r>
            <a:r>
              <a:rPr lang="en-US" sz="1400" dirty="0">
                <a:solidFill>
                  <a:srgbClr val="2F455C"/>
                </a:solidFill>
              </a:rPr>
              <a:t> рабочего </a:t>
            </a:r>
            <a:r>
              <a:rPr lang="en-US" sz="1400" dirty="0" err="1">
                <a:solidFill>
                  <a:srgbClr val="2F455C"/>
                </a:solidFill>
              </a:rPr>
              <a:t>времени</a:t>
            </a:r>
            <a:r>
              <a:rPr lang="en-US" sz="1400" dirty="0">
                <a:solidFill>
                  <a:srgbClr val="2F455C"/>
                </a:solidFill>
              </a:rPr>
              <a:t> </a:t>
            </a:r>
            <a:r>
              <a:rPr lang="en-US" sz="1400" dirty="0" err="1">
                <a:solidFill>
                  <a:srgbClr val="2F455C"/>
                </a:solidFill>
              </a:rPr>
              <a:t>команды</a:t>
            </a:r>
            <a:br>
              <a:rPr lang="ru-RU" sz="1400" dirty="0">
                <a:solidFill>
                  <a:srgbClr val="2F455C"/>
                </a:solidFill>
              </a:rPr>
            </a:br>
            <a:endParaRPr lang="ru-RU" sz="1400" dirty="0">
              <a:solidFill>
                <a:srgbClr val="2F455C"/>
              </a:solidFill>
            </a:endParaRPr>
          </a:p>
          <a:p>
            <a:pPr marL="152400" indent="-152400">
              <a:buSzPct val="100000"/>
              <a:buChar char="•"/>
            </a:pPr>
            <a:r>
              <a:rPr lang="en-US" sz="1400" dirty="0" err="1">
                <a:solidFill>
                  <a:srgbClr val="2F455C"/>
                </a:solidFill>
              </a:rPr>
              <a:t>повторяющиеся</a:t>
            </a:r>
            <a:r>
              <a:rPr lang="en-US" sz="1400" dirty="0">
                <a:solidFill>
                  <a:srgbClr val="2F455C"/>
                </a:solidFill>
              </a:rPr>
              <a:t> консультации у </a:t>
            </a:r>
            <a:r>
              <a:rPr lang="en-US" sz="1400" dirty="0" err="1">
                <a:solidFill>
                  <a:srgbClr val="2F455C"/>
                </a:solidFill>
              </a:rPr>
              <a:t>опытных</a:t>
            </a:r>
            <a:r>
              <a:rPr lang="en-US" sz="1400" dirty="0">
                <a:solidFill>
                  <a:srgbClr val="2F455C"/>
                </a:solidFill>
              </a:rPr>
              <a:t> </a:t>
            </a:r>
            <a:r>
              <a:rPr lang="en-US" sz="1400" dirty="0" err="1">
                <a:solidFill>
                  <a:srgbClr val="2F455C"/>
                </a:solidFill>
              </a:rPr>
              <a:t>специалистов</a:t>
            </a:r>
            <a:br>
              <a:rPr lang="ru-RU" sz="1400" dirty="0">
                <a:solidFill>
                  <a:srgbClr val="2F455C"/>
                </a:solidFill>
              </a:rPr>
            </a:br>
            <a:endParaRPr lang="ru-RU" sz="1400" dirty="0">
              <a:solidFill>
                <a:srgbClr val="2F455C"/>
              </a:solidFill>
            </a:endParaRPr>
          </a:p>
          <a:p>
            <a:pPr marL="152400" indent="-152400">
              <a:buSzPct val="100000"/>
              <a:buChar char="•"/>
            </a:pPr>
            <a:r>
              <a:rPr lang="en-US" sz="1400" dirty="0" err="1">
                <a:solidFill>
                  <a:srgbClr val="2F455C"/>
                </a:solidFill>
              </a:rPr>
              <a:t>затрудненная</a:t>
            </a:r>
            <a:r>
              <a:rPr lang="en-US" sz="1400" dirty="0">
                <a:solidFill>
                  <a:srgbClr val="2F455C"/>
                </a:solidFill>
              </a:rPr>
              <a:t> адаптация новых сотрудников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89320" y="1376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455C"/>
                </a:solidFill>
              </a:rPr>
              <a:t>Результат после внедрения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69672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DDECF2"/>
          </a:solidFill>
          <a:ln w="12700">
            <a:solidFill>
              <a:srgbClr val="C7DBE3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925320"/>
            <a:ext cx="51206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 err="1">
                <a:solidFill>
                  <a:srgbClr val="2F455C"/>
                </a:solidFill>
              </a:rPr>
              <a:t>снижение</a:t>
            </a:r>
            <a:r>
              <a:rPr lang="en-US" sz="1400" dirty="0">
                <a:solidFill>
                  <a:srgbClr val="2F455C"/>
                </a:solidFill>
              </a:rPr>
              <a:t> трудозатрат на </a:t>
            </a:r>
            <a:r>
              <a:rPr lang="en-US" sz="1400" dirty="0" err="1">
                <a:solidFill>
                  <a:srgbClr val="2F455C"/>
                </a:solidFill>
              </a:rPr>
              <a:t>поиск</a:t>
            </a:r>
            <a:r>
              <a:rPr lang="en-US" sz="1400" dirty="0">
                <a:solidFill>
                  <a:srgbClr val="2F455C"/>
                </a:solidFill>
              </a:rPr>
              <a:t> </a:t>
            </a:r>
            <a:r>
              <a:rPr lang="en-US" sz="1400" dirty="0" err="1">
                <a:solidFill>
                  <a:srgbClr val="2F455C"/>
                </a:solidFill>
              </a:rPr>
              <a:t>информации</a:t>
            </a:r>
            <a:br>
              <a:rPr lang="ru-RU" sz="1400" dirty="0">
                <a:solidFill>
                  <a:srgbClr val="2F455C"/>
                </a:solidFill>
              </a:rPr>
            </a:b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 err="1">
                <a:solidFill>
                  <a:srgbClr val="2F455C"/>
                </a:solidFill>
              </a:rPr>
              <a:t>экономия</a:t>
            </a:r>
            <a:r>
              <a:rPr lang="en-US" sz="1400" dirty="0">
                <a:solidFill>
                  <a:srgbClr val="2F455C"/>
                </a:solidFill>
              </a:rPr>
              <a:t> времени </a:t>
            </a:r>
            <a:r>
              <a:rPr lang="en-US" sz="1400" dirty="0" err="1">
                <a:solidFill>
                  <a:srgbClr val="2F455C"/>
                </a:solidFill>
              </a:rPr>
              <a:t>команды</a:t>
            </a:r>
            <a:r>
              <a:rPr lang="en-US" sz="1400" dirty="0">
                <a:solidFill>
                  <a:srgbClr val="2F455C"/>
                </a:solidFill>
              </a:rPr>
              <a:t> </a:t>
            </a:r>
            <a:r>
              <a:rPr lang="en-US" sz="1400" dirty="0" err="1">
                <a:solidFill>
                  <a:srgbClr val="2F455C"/>
                </a:solidFill>
              </a:rPr>
              <a:t>разработчиков</a:t>
            </a:r>
            <a:br>
              <a:rPr lang="ru-RU" sz="1400" dirty="0">
                <a:solidFill>
                  <a:srgbClr val="2F455C"/>
                </a:solidFill>
              </a:rPr>
            </a:b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 err="1">
                <a:solidFill>
                  <a:srgbClr val="2F455C"/>
                </a:solidFill>
              </a:rPr>
              <a:t>уменьшение</a:t>
            </a:r>
            <a:r>
              <a:rPr lang="en-US" sz="1400" dirty="0">
                <a:solidFill>
                  <a:srgbClr val="2F455C"/>
                </a:solidFill>
              </a:rPr>
              <a:t> нагрузки на </a:t>
            </a:r>
            <a:r>
              <a:rPr lang="en-US" sz="1400" dirty="0" err="1">
                <a:solidFill>
                  <a:srgbClr val="2F455C"/>
                </a:solidFill>
              </a:rPr>
              <a:t>старших</a:t>
            </a:r>
            <a:r>
              <a:rPr lang="en-US" sz="1400" dirty="0">
                <a:solidFill>
                  <a:srgbClr val="2F455C"/>
                </a:solidFill>
              </a:rPr>
              <a:t> </a:t>
            </a:r>
            <a:r>
              <a:rPr lang="en-US" sz="1400" dirty="0" err="1">
                <a:solidFill>
                  <a:srgbClr val="2F455C"/>
                </a:solidFill>
              </a:rPr>
              <a:t>специалистов</a:t>
            </a:r>
            <a:br>
              <a:rPr lang="ru-RU" sz="1400" dirty="0">
                <a:solidFill>
                  <a:srgbClr val="2F455C"/>
                </a:solidFill>
              </a:rPr>
            </a:b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 err="1">
                <a:solidFill>
                  <a:srgbClr val="2F455C"/>
                </a:solidFill>
              </a:rPr>
              <a:t>ускорение</a:t>
            </a:r>
            <a:r>
              <a:rPr lang="en-US" sz="1400" dirty="0">
                <a:solidFill>
                  <a:srgbClr val="2F455C"/>
                </a:solidFill>
              </a:rPr>
              <a:t> онбординга и повышение доступности знаний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11680" y="4394200"/>
            <a:ext cx="9043670" cy="1216152"/>
          </a:xfrm>
          <a:prstGeom prst="roundRect">
            <a:avLst>
              <a:gd name="adj" fmla="val 7500"/>
            </a:avLst>
          </a:prstGeom>
          <a:solidFill>
            <a:srgbClr val="EDF8F5"/>
          </a:solidFill>
          <a:ln w="12700">
            <a:solidFill>
              <a:srgbClr val="C7DBE3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21408" y="4485639"/>
            <a:ext cx="8490858" cy="2601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455C"/>
                </a:solidFill>
              </a:rPr>
              <a:t>Ключевая идея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10308" y="4787645"/>
            <a:ext cx="8490858" cy="44942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F455C"/>
                </a:solidFill>
              </a:rPr>
              <a:t>Система не только хранит знания, но и превращает их в быстрый рабочий инструмент для сотрудников через интеллектуальный поиск и чат-бот.</a:t>
            </a:r>
            <a:endParaRPr lang="en-US" sz="1400" dirty="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28043573-D892-4243-A257-CA7A452C9877}"/>
              </a:ext>
            </a:extLst>
          </p:cNvPr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30487B79-7D21-4A02-90C2-8FF4EC88C773}"/>
              </a:ext>
            </a:extLst>
          </p:cNvPr>
          <p:cNvSpPr/>
          <p:nvPr/>
        </p:nvSpPr>
        <p:spPr>
          <a:xfrm>
            <a:off x="9893808" y="22709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60" dirty="0">
                <a:solidFill>
                  <a:srgbClr val="5E6F80"/>
                </a:solidFill>
                <a:latin typeface="Aptos "/>
                <a:ea typeface="Aptos" pitchFamily="34" charset="-122"/>
              </a:rPr>
              <a:t>Предложенное решение</a:t>
            </a:r>
            <a:endParaRPr lang="en-US" sz="960" dirty="0">
              <a:solidFill>
                <a:srgbClr val="5E6F80"/>
              </a:solidFill>
              <a:latin typeface="Aptos "/>
              <a:ea typeface="Aptos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Годовой экономический эффект от внедрения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2709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60" dirty="0">
                <a:solidFill>
                  <a:srgbClr val="5E6F80"/>
                </a:solidFill>
                <a:latin typeface="Aptos "/>
                <a:ea typeface="Aptos" pitchFamily="34" charset="-122"/>
              </a:rPr>
              <a:t>Э</a:t>
            </a:r>
            <a:r>
              <a:rPr lang="en-US" sz="960" dirty="0" err="1">
                <a:solidFill>
                  <a:srgbClr val="5E6F80"/>
                </a:solidFill>
                <a:latin typeface="Aptos "/>
                <a:ea typeface="Aptos" pitchFamily="34" charset="-122"/>
              </a:rPr>
              <a:t>кономический</a:t>
            </a:r>
            <a:r>
              <a:rPr lang="en-US" sz="960" dirty="0">
                <a:solidFill>
                  <a:srgbClr val="5E6F80"/>
                </a:solidFill>
                <a:latin typeface="Aptos "/>
                <a:ea typeface="Aptos" pitchFamily="34" charset="-122"/>
              </a:rPr>
              <a:t> </a:t>
            </a:r>
            <a:r>
              <a:rPr lang="en-US" sz="960" dirty="0" err="1">
                <a:solidFill>
                  <a:srgbClr val="5E6F80"/>
                </a:solidFill>
                <a:latin typeface="Aptos "/>
                <a:ea typeface="Aptos" pitchFamily="34" charset="-122"/>
              </a:rPr>
              <a:t>эффект</a:t>
            </a:r>
            <a:endParaRPr lang="en-US" sz="960" dirty="0">
              <a:solidFill>
                <a:srgbClr val="5E6F80"/>
              </a:solidFill>
              <a:latin typeface="Aptos "/>
              <a:ea typeface="Aptos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704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766"/>
                </a:solidFill>
                <a:latin typeface="Aptos "/>
              </a:rPr>
              <a:t>Изменение времени поиска знаний</a:t>
            </a:r>
            <a:endParaRPr lang="en-US" sz="1700" dirty="0">
              <a:latin typeface="Aptos "/>
            </a:endParaRPr>
          </a:p>
        </p:txBody>
      </p:sp>
      <p:sp>
        <p:nvSpPr>
          <p:cNvPr id="8" name="Text 6"/>
          <p:cNvSpPr/>
          <p:nvPr/>
        </p:nvSpPr>
        <p:spPr>
          <a:xfrm>
            <a:off x="932688" y="1783080"/>
            <a:ext cx="3154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 "/>
              </a:rPr>
              <a:t>До внедрения — 3 ч/нед.</a:t>
            </a:r>
            <a:endParaRPr lang="en-US" sz="1500" dirty="0">
              <a:latin typeface="Aptos 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 "/>
              </a:rPr>
              <a:t>После внедрения — 0,5 ч/нед.</a:t>
            </a:r>
            <a:endParaRPr lang="en-US" sz="1500" dirty="0">
              <a:latin typeface="Aptos 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 "/>
              </a:rPr>
              <a:t>Экономия — 2,5 ч/нед. на 1 разработчика</a:t>
            </a:r>
            <a:endParaRPr lang="en-US" sz="1500" dirty="0">
              <a:latin typeface="Aptos 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2834640" cy="2057400"/>
          </a:xfrm>
          <a:prstGeom prst="roundRect">
            <a:avLst>
              <a:gd name="adj" fmla="val 3556"/>
            </a:avLst>
          </a:prstGeom>
          <a:solidFill>
            <a:srgbClr val="EEF3EE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01978"/>
            <a:ext cx="2430710" cy="35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55944"/>
                </a:solidFill>
                <a:latin typeface="Aptos "/>
              </a:rPr>
              <a:t>Исходные параметры</a:t>
            </a:r>
            <a:endParaRPr lang="en-US" sz="1700" dirty="0">
              <a:latin typeface="Aptos 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18888" y="1801368"/>
            <a:ext cx="22402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 "/>
              </a:rPr>
              <a:t>Ставка: 250 руб./ч</a:t>
            </a:r>
            <a:endParaRPr lang="en-US" sz="1500" dirty="0">
              <a:latin typeface="Aptos 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 "/>
              </a:rPr>
              <a:t>Команда: 5 разработчиков</a:t>
            </a:r>
            <a:endParaRPr lang="en-US" sz="1500" dirty="0">
              <a:latin typeface="Aptos 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 "/>
              </a:rPr>
              <a:t>Период: 52 недели</a:t>
            </a:r>
            <a:endParaRPr lang="en-US" sz="1500" dirty="0">
              <a:latin typeface="Aptos 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35240" y="960120"/>
            <a:ext cx="3840480" cy="2057400"/>
          </a:xfrm>
          <a:prstGeom prst="roundRect">
            <a:avLst>
              <a:gd name="adj" fmla="val 3556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2529" y="1080419"/>
            <a:ext cx="3003008" cy="693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 err="1">
                <a:solidFill>
                  <a:srgbClr val="2E4766"/>
                </a:solidFill>
                <a:latin typeface="Aptos "/>
              </a:rPr>
              <a:t>Формула</a:t>
            </a:r>
            <a:r>
              <a:rPr lang="en-US" sz="1700" b="1" dirty="0">
                <a:solidFill>
                  <a:srgbClr val="2E4766"/>
                </a:solidFill>
                <a:latin typeface="Aptos "/>
              </a:rPr>
              <a:t> </a:t>
            </a:r>
            <a:r>
              <a:rPr lang="en-US" sz="1700" b="1" dirty="0" err="1">
                <a:solidFill>
                  <a:srgbClr val="2E4766"/>
                </a:solidFill>
                <a:latin typeface="Aptos "/>
              </a:rPr>
              <a:t>расчета</a:t>
            </a:r>
            <a:r>
              <a:rPr lang="ru-RU" sz="1700" b="1" dirty="0">
                <a:solidFill>
                  <a:srgbClr val="2E4766"/>
                </a:solidFill>
                <a:latin typeface="Aptos "/>
              </a:rPr>
              <a:t> экономического эффекта </a:t>
            </a:r>
            <a:endParaRPr lang="en-US" sz="1700" dirty="0">
              <a:latin typeface="Aptos 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852346" y="1988820"/>
            <a:ext cx="36233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Э = 2,5 × 250 × 5 × 52 = 162 500 руб./</a:t>
            </a:r>
            <a:r>
              <a:rPr lang="en-US" sz="1600" b="1" dirty="0" err="1">
                <a:solidFill>
                  <a:srgbClr val="2E4766"/>
                </a:solidFill>
                <a:latin typeface="Aptos "/>
              </a:rPr>
              <a:t>годa</a:t>
            </a:r>
            <a:endParaRPr lang="en-US" sz="1600" dirty="0">
              <a:latin typeface="Aptos "/>
            </a:endParaRPr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737012702"/>
              </p:ext>
            </p:extLst>
          </p:nvPr>
        </p:nvGraphicFramePr>
        <p:xfrm>
          <a:off x="822960" y="3429000"/>
          <a:ext cx="54864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3"/>
          <p:cNvSpPr/>
          <p:nvPr/>
        </p:nvSpPr>
        <p:spPr>
          <a:xfrm>
            <a:off x="914400" y="3154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Сценарии экономии</a:t>
            </a:r>
            <a:endParaRPr lang="en-US" sz="1600" dirty="0">
              <a:latin typeface="Aptos 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720840" y="34290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49439" y="3607308"/>
            <a:ext cx="1850611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Интерпретация</a:t>
            </a:r>
            <a:endParaRPr lang="en-US" sz="1600" dirty="0">
              <a:latin typeface="Aptos 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949440" y="3950208"/>
            <a:ext cx="41605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 "/>
              </a:rPr>
              <a:t>Для презентации принят средний сценарий: до внедрения сотрудники тратили 3 часа в неделю на поиск информации, после внедрения — 30 минут. Это дает реалистичную годовую экономию 162 500 руб.</a:t>
            </a:r>
            <a:endParaRPr lang="en-US" sz="1400" dirty="0">
              <a:latin typeface="Aptos 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Себестоимость, прибыль и цена системы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2724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60" dirty="0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Цена системы</a:t>
            </a:r>
            <a:endParaRPr lang="en-US" sz="960" dirty="0">
              <a:latin typeface="Aptos 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430010" y="1425959"/>
            <a:ext cx="2606040" cy="932685"/>
          </a:xfrm>
          <a:prstGeom prst="roundRect">
            <a:avLst>
              <a:gd name="adj" fmla="val 6957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46748" y="1570482"/>
            <a:ext cx="2944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766"/>
                </a:solidFill>
                <a:latin typeface="Aptos "/>
              </a:rPr>
              <a:t>Полная себестоимость</a:t>
            </a:r>
            <a:endParaRPr lang="en-US" sz="1400" dirty="0">
              <a:latin typeface="Aptos "/>
            </a:endParaRPr>
          </a:p>
        </p:txBody>
      </p:sp>
      <p:sp>
        <p:nvSpPr>
          <p:cNvPr id="9" name="Text 6"/>
          <p:cNvSpPr/>
          <p:nvPr/>
        </p:nvSpPr>
        <p:spPr>
          <a:xfrm>
            <a:off x="6746748" y="200990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4766"/>
                </a:solidFill>
                <a:latin typeface="Aptos "/>
              </a:rPr>
              <a:t>Зоб = 169 280,74 руб.</a:t>
            </a:r>
            <a:endParaRPr lang="en-US" dirty="0">
              <a:latin typeface="Aptos 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529067" y="2651929"/>
            <a:ext cx="3278633" cy="930487"/>
          </a:xfrm>
          <a:prstGeom prst="roundRect">
            <a:avLst>
              <a:gd name="adj" fmla="val 6957"/>
            </a:avLst>
          </a:prstGeom>
          <a:solidFill>
            <a:srgbClr val="EEF3EE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97721" y="2723980"/>
            <a:ext cx="378679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5944"/>
                </a:solidFill>
                <a:latin typeface="Aptos "/>
              </a:rPr>
              <a:t>Прибыль </a:t>
            </a:r>
            <a:r>
              <a:rPr lang="en-US" sz="1400" b="1" dirty="0" err="1">
                <a:solidFill>
                  <a:srgbClr val="355944"/>
                </a:solidFill>
                <a:latin typeface="Aptos "/>
              </a:rPr>
              <a:t>при</a:t>
            </a:r>
            <a:r>
              <a:rPr lang="en-US" sz="1400" b="1" dirty="0">
                <a:solidFill>
                  <a:srgbClr val="355944"/>
                </a:solidFill>
                <a:latin typeface="Aptos "/>
              </a:rPr>
              <a:t> </a:t>
            </a:r>
            <a:r>
              <a:rPr lang="en-US" sz="1400" b="1" dirty="0" err="1">
                <a:solidFill>
                  <a:srgbClr val="355944"/>
                </a:solidFill>
                <a:latin typeface="Aptos "/>
              </a:rPr>
              <a:t>рентабельности</a:t>
            </a:r>
            <a:r>
              <a:rPr lang="en-US" sz="1400" b="1" dirty="0">
                <a:solidFill>
                  <a:srgbClr val="355944"/>
                </a:solidFill>
                <a:latin typeface="Aptos "/>
              </a:rPr>
              <a:t> 10%</a:t>
            </a:r>
            <a:endParaRPr lang="en-US" sz="1400" dirty="0">
              <a:latin typeface="Aptos 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849107" y="31460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4766"/>
                </a:solidFill>
                <a:latin typeface="Aptos "/>
              </a:rPr>
              <a:t>П = 16 928,07 руб.</a:t>
            </a:r>
            <a:endParaRPr lang="en-US" dirty="0">
              <a:latin typeface="Aptos 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256015" y="1441791"/>
            <a:ext cx="2593086" cy="916853"/>
          </a:xfrm>
          <a:prstGeom prst="roundRect">
            <a:avLst>
              <a:gd name="adj" fmla="val 6957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37624" y="1536489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766"/>
                </a:solidFill>
                <a:latin typeface="Aptos "/>
              </a:rPr>
              <a:t>Цена системы с НДС 22%</a:t>
            </a:r>
            <a:endParaRPr lang="en-US" sz="1400" dirty="0">
              <a:latin typeface="Aptos 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437624" y="200727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4766"/>
                </a:solidFill>
                <a:latin typeface="Aptos "/>
              </a:rPr>
              <a:t>Ц = 227 174,75 руб.</a:t>
            </a:r>
            <a:endParaRPr lang="en-US" dirty="0">
              <a:latin typeface="Aptos "/>
            </a:endParaRPr>
          </a:p>
        </p:txBody>
      </p:sp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D567664B-E586-418B-A731-A5D3CAA6D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193894"/>
              </p:ext>
            </p:extLst>
          </p:nvPr>
        </p:nvGraphicFramePr>
        <p:xfrm>
          <a:off x="382774" y="2787904"/>
          <a:ext cx="5827271" cy="3280893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4279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2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55C"/>
                          </a:solidFill>
                        </a:rPr>
                        <a:t>Показатель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55C"/>
                          </a:solidFill>
                        </a:rPr>
                        <a:t>Величина</a:t>
                      </a:r>
                      <a:endParaRPr lang="en-US" sz="14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Трудозатраты на разработку проекта, чел*час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250</a:t>
                      </a:r>
                      <a:endParaRPr lang="en-US" sz="14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Затраты на разработку проекта, руб.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169 280,74</a:t>
                      </a:r>
                      <a:endParaRPr lang="en-US" sz="14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Годовой экономический эффект, руб.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162 500</a:t>
                      </a:r>
                      <a:endParaRPr lang="en-US" sz="14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Коэффициент экономической эффективности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0,96</a:t>
                      </a:r>
                      <a:endParaRPr lang="en-US" sz="14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Срок окупаемости, мес.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12,5</a:t>
                      </a:r>
                      <a:endParaRPr lang="en-US" sz="14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Итоги и выводы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2724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Заключение</a:t>
            </a:r>
            <a:endParaRPr lang="en-US" sz="960" dirty="0">
              <a:latin typeface="Aptos 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171956" y="102057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9116" y="126745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4766"/>
                </a:solidFill>
                <a:latin typeface="Aptos "/>
              </a:rPr>
              <a:t>162 500</a:t>
            </a:r>
            <a:endParaRPr lang="en-US" sz="2600" dirty="0">
              <a:latin typeface="Aptos 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18260" y="1797810"/>
            <a:ext cx="245059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334155"/>
                </a:solidFill>
                <a:latin typeface="Aptos "/>
              </a:rPr>
              <a:t>годовой экономический эффект, руб.</a:t>
            </a:r>
            <a:endParaRPr lang="en-US" sz="1270" dirty="0">
              <a:latin typeface="Aptos 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24400" y="104343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EEF3EE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1560" y="126745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4766"/>
                </a:solidFill>
                <a:latin typeface="Aptos "/>
              </a:rPr>
              <a:t>0,96</a:t>
            </a:r>
            <a:endParaRPr lang="en-US" sz="2600" dirty="0">
              <a:latin typeface="Aptos 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0704" y="1797810"/>
            <a:ext cx="245059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334155"/>
                </a:solidFill>
                <a:latin typeface="Aptos "/>
              </a:rPr>
              <a:t>коэффициент экономической эффективности</a:t>
            </a:r>
            <a:endParaRPr lang="en-US" sz="1270" dirty="0">
              <a:latin typeface="Aptos 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76844" y="104343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4004" y="129031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4766"/>
                </a:solidFill>
                <a:latin typeface="Aptos "/>
              </a:rPr>
              <a:t>12,5</a:t>
            </a:r>
            <a:endParaRPr lang="en-US" sz="2600" dirty="0">
              <a:latin typeface="Aptos 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23148" y="1820670"/>
            <a:ext cx="245059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334155"/>
                </a:solidFill>
                <a:latin typeface="Aptos "/>
              </a:rPr>
              <a:t>срок окупаемости, мес.</a:t>
            </a:r>
            <a:endParaRPr lang="en-US" sz="1270" dirty="0">
              <a:latin typeface="Aptos 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71956" y="3511550"/>
            <a:ext cx="984808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18260" y="3626096"/>
            <a:ext cx="2302510" cy="37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4766"/>
                </a:solidFill>
                <a:latin typeface="Aptos "/>
              </a:rPr>
              <a:t>Ключевые выводы</a:t>
            </a:r>
            <a:endParaRPr lang="en-US" sz="1800" dirty="0">
              <a:latin typeface="Aptos 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18260" y="4151630"/>
            <a:ext cx="961009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 err="1">
                <a:solidFill>
                  <a:srgbClr val="334155"/>
                </a:solidFill>
                <a:latin typeface="Aptos "/>
              </a:rPr>
              <a:t>проект</a:t>
            </a:r>
            <a:r>
              <a:rPr lang="en-US" sz="1500" dirty="0">
                <a:solidFill>
                  <a:srgbClr val="334155"/>
                </a:solidFill>
                <a:latin typeface="Aptos "/>
              </a:rPr>
              <a:t> финансируется за счет собственного капитала и не увеличивает долговую нагрузку компании</a:t>
            </a:r>
            <a:endParaRPr lang="en-US" sz="1500" dirty="0">
              <a:latin typeface="Aptos "/>
            </a:endParaRPr>
          </a:p>
          <a:p>
            <a:pPr marL="203200" indent="-203200">
              <a:buSzPct val="100000"/>
              <a:buChar char="•"/>
            </a:pPr>
            <a:r>
              <a:rPr lang="en-US" sz="1500" dirty="0" err="1">
                <a:solidFill>
                  <a:srgbClr val="334155"/>
                </a:solidFill>
                <a:latin typeface="Aptos "/>
              </a:rPr>
              <a:t>себестоимость</a:t>
            </a:r>
            <a:r>
              <a:rPr lang="en-US" sz="1500" dirty="0">
                <a:solidFill>
                  <a:srgbClr val="334155"/>
                </a:solidFill>
                <a:latin typeface="Aptos "/>
              </a:rPr>
              <a:t> разработки составила 169 280,74 руб., цена системы — 227 174,75 руб.</a:t>
            </a:r>
            <a:endParaRPr lang="en-US" sz="1500" dirty="0">
              <a:latin typeface="Aptos "/>
            </a:endParaRPr>
          </a:p>
          <a:p>
            <a:pPr marL="203200" indent="-203200">
              <a:buSzPct val="100000"/>
              <a:buChar char="•"/>
            </a:pPr>
            <a:r>
              <a:rPr lang="en-US" sz="1500" dirty="0" err="1">
                <a:solidFill>
                  <a:srgbClr val="334155"/>
                </a:solidFill>
                <a:latin typeface="Aptos "/>
              </a:rPr>
              <a:t>коэффициент</a:t>
            </a:r>
            <a:r>
              <a:rPr lang="en-US" sz="1500" dirty="0">
                <a:solidFill>
                  <a:srgbClr val="334155"/>
                </a:solidFill>
                <a:latin typeface="Aptos "/>
              </a:rPr>
              <a:t> эффективности 0,96 значительно выше нормативного значения 0,15</a:t>
            </a:r>
            <a:endParaRPr lang="en-US" sz="1500" dirty="0">
              <a:latin typeface="Aptos "/>
            </a:endParaRPr>
          </a:p>
          <a:p>
            <a:pPr marL="203200" indent="-203200">
              <a:buSzPct val="100000"/>
              <a:buChar char="•"/>
            </a:pPr>
            <a:r>
              <a:rPr lang="en-US" sz="1500" dirty="0" err="1">
                <a:solidFill>
                  <a:srgbClr val="334155"/>
                </a:solidFill>
                <a:latin typeface="Aptos "/>
              </a:rPr>
              <a:t>внедрение</a:t>
            </a:r>
            <a:r>
              <a:rPr lang="en-US" sz="1500" dirty="0">
                <a:solidFill>
                  <a:srgbClr val="334155"/>
                </a:solidFill>
                <a:latin typeface="Aptos "/>
              </a:rPr>
              <a:t> базы знаний с чат-ботом уменьшает время поиска информации и повышает управляемость корпоративных знаний</a:t>
            </a:r>
            <a:endParaRPr lang="en-US" sz="1500" dirty="0">
              <a:latin typeface="Aptos 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986</Words>
  <Application>Microsoft Office PowerPoint</Application>
  <PresentationFormat>Широкоэкранный</PresentationFormat>
  <Paragraphs>202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Aptos 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по курсовой работе — ООО «БС-Платформа»</dc:title>
  <dc:subject>Экономическая эффективность серверной части системы управления корпоративной базой знаний</dc:subject>
  <dc:creator>OpenAI</dc:creator>
  <cp:lastModifiedBy>timur</cp:lastModifiedBy>
  <cp:revision>10</cp:revision>
  <dcterms:created xsi:type="dcterms:W3CDTF">2026-03-23T12:13:33Z</dcterms:created>
  <dcterms:modified xsi:type="dcterms:W3CDTF">2026-03-24T18:50:59Z</dcterms:modified>
</cp:coreProperties>
</file>