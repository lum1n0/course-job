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Трудоемкость</c:v>
                </c:pt>
              </c:strCache>
            </c:strRef>
          </c:tx>
          <c:spPr>
            <a:solidFill>
              <a:srgbClr val="5E8E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Проектирование</c:v>
                </c:pt>
                <c:pt idx="1">
                  <c:v>Разработка</c:v>
                </c:pt>
                <c:pt idx="2">
                  <c:v>Тестирование</c:v>
                </c:pt>
                <c:pt idx="3">
                  <c:v>Документы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140</c:v>
                </c:pt>
                <c:pt idx="2">
                  <c:v>50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D78-9C88-D885E81798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ru-RU" sz="2400" b="1" i="0" u="none" strike="noStrike" kern="1200" cap="all" spc="50" baseline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defRPr>
            </a:pPr>
            <a:r>
              <a:rPr lang="ru-RU" sz="2400" b="0" kern="12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издержки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2400" b="1" i="0" u="none" strike="noStrike" kern="1200" cap="all" spc="50" baseline="0">
              <a:solidFill>
                <a:srgbClr val="2E4766"/>
              </a:solidFill>
              <a:latin typeface="Aptos "/>
              <a:ea typeface="Aptos" pitchFamily="34" charset="-122"/>
              <a:cs typeface="Aptos" pitchFamily="34" charset="-12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31286476564196974"/>
          <c:y val="0.20435904340614952"/>
          <c:w val="0.37427069126983842"/>
          <c:h val="0.60060649610109651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издержки</c:v>
                </c:pt>
              </c:strCache>
            </c:strRef>
          </c:tx>
          <c:dPt>
            <c:idx val="0"/>
            <c:bubble3D val="0"/>
            <c:spPr>
              <a:solidFill>
                <a:srgbClr val="D8EDF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3617-49BF-AB79-9E6F2A53780F}"/>
              </c:ext>
            </c:extLst>
          </c:dPt>
          <c:dPt>
            <c:idx val="1"/>
            <c:bubble3D val="0"/>
            <c:spPr>
              <a:solidFill>
                <a:srgbClr val="FFF4E7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617-49BF-AB79-9E6F2A53780F}"/>
              </c:ext>
            </c:extLst>
          </c:dPt>
          <c:dLbls>
            <c:dLbl>
              <c:idx val="0"/>
              <c:layout>
                <c:manualLayout>
                  <c:x val="0.22070146280147135"/>
                  <c:y val="-0.1518704522613783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901B1D1-C724-4F46-8C87-67C9D5552BB2}" type="VALUE">
                      <a:rPr lang="en-US" b="0" smtClean="0">
                        <a:solidFill>
                          <a:schemeClr val="tx1"/>
                        </a:solidFill>
                      </a:rPr>
                      <a:pPr>
                        <a:defRPr b="0"/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3617-49BF-AB79-9E6F2A53780F}"/>
                </c:ext>
              </c:extLst>
            </c:dLbl>
            <c:dLbl>
              <c:idx val="1"/>
              <c:layout>
                <c:manualLayout>
                  <c:x val="-0.23663609074496761"/>
                  <c:y val="0.1300927351181313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9EE1CB8-8EAB-4CB7-868A-766C274AE73C}" type="VALUE">
                      <a:rPr lang="en-US" b="0" smtClean="0">
                        <a:solidFill>
                          <a:schemeClr val="tx1"/>
                        </a:solidFill>
                      </a:rPr>
                      <a:pPr>
                        <a:defRPr b="0">
                          <a:solidFill>
                            <a:schemeClr val="tx1"/>
                          </a:solidFill>
                        </a:defRPr>
                      </a:pPr>
                      <a:t>[ЗНАЧЕНИЕ]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617-49BF-AB79-9E6F2A5378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Постоянные</c:v>
                </c:pt>
                <c:pt idx="1">
                  <c:v>Переменные</c:v>
                </c:pt>
              </c:strCache>
            </c:strRef>
          </c:cat>
          <c:val>
            <c:numRef>
              <c:f>Лист1!$B$2:$B$3</c:f>
              <c:numCache>
                <c:formatCode>0.00%</c:formatCode>
                <c:ptCount val="2"/>
                <c:pt idx="0">
                  <c:v>0.98340000000000005</c:v>
                </c:pt>
                <c:pt idx="1">
                  <c:v>1.66E-2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7-49BF-AB79-9E6F2A53780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619298617317888"/>
          <c:y val="0.84043995431457941"/>
          <c:w val="0.5332668936121725"/>
          <c:h val="9.87000797852013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Эффект, руб./год</c:v>
                </c:pt>
              </c:strCache>
            </c:strRef>
          </c:tx>
          <c:spPr>
            <a:solidFill>
              <a:srgbClr val="2BA0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ч → 0,5 ч</c:v>
                </c:pt>
                <c:pt idx="1">
                  <c:v>3 ч → 0,5 ч</c:v>
                </c:pt>
                <c:pt idx="2">
                  <c:v>5 ч → 0,5 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32500</c:v>
                </c:pt>
                <c:pt idx="1">
                  <c:v>162500</c:v>
                </c:pt>
                <c:pt idx="2">
                  <c:v>292500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AC-4527-99B2-AD85DD2DD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5000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31EBD-0CF9-4A93-B883-1B0BEAE4864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30774-05C5-4DFF-A091-0E945B2AD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63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presentation template; title illustration cropped from slide 1.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sections 1–2.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3.1,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3,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3.3 and supervisor consultation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8–9 and formulas (7), (9).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conclusion and section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02EE42-74F6-4E29-91CD-6CEC91B15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E1F2DE-29E3-43D4-8C57-EF72A7C8F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F3C7B-E76B-4687-8497-F6D8281C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D6D3A7-2CD3-4791-8707-20744929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93243-309E-425E-9F40-841E32ED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734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DA4C8-3BA2-487D-A83B-70DB1B22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C10B54-370E-4F1D-80D3-95C6F9D7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27DB19-B4A7-4870-B6EE-DFC41147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FD1F8-6576-4F9A-8A24-7D1F974E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4D685-E107-44E7-9B9D-6F1F7E5E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34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AF77B3-8683-40B1-810C-5184B1819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238E1F-5359-4D9C-A976-C8F032CCE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53F938-0C9D-4D44-9912-E393F2D1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FE1D80-2329-45D6-9543-5BF84C3D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C7BDBE-4F85-40CE-A584-F19A5D8D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045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268C0-64BE-496E-85C6-759E640D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A1978-A788-4426-B291-B1B5F4315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D19487-7326-4700-A2DE-BF5D6A254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747752-1777-41CD-951F-9684F9A2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E55DFC-C9A6-4C5D-B674-9AD62EC5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86E556-404A-463A-BAB6-7DC8D938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22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28B37-C0EB-43BD-81D1-8056719E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A12BCE-5935-4EE9-819A-BAD2A2861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BAD2BB-8F34-4812-AB65-AF6CA8C4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B405B2-DBF2-428E-982E-C55390B3B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AD5190-4B3D-473E-8D71-B1F4A323F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57429E-2BD1-4EFF-A951-CD792645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4F63A2-D70E-43D9-AD17-FCE7733E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D8864A-6536-4EAA-B9AE-C96D667C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93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D5834-9B52-4323-B0EF-26459015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018BA0-2AFD-4F22-A051-215F5CED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FF84EC-AFC7-47B5-9E4A-96A6E070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DAE959-6D8D-4DB7-9558-8D4000B3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9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F09A8D2-1340-4747-A2C8-3A2DA5DE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8C40D5-0F85-4330-A86A-15522529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A6528E-91E6-4866-93AD-90CCDA53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71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C7FD5-E5EA-4358-9C8B-63B0F00E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35057E-3966-4FA9-8928-03722C766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08D06-DE3F-4557-A539-E3FC22F7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ACD87A-0111-40C9-9489-6822AE6D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62C159-C584-4E96-80A4-A669836F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F5356E-32E7-4801-8E27-931198CB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63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4428D-5FE1-43C4-9BDE-6E5FBA87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303C36-5EF8-4EB1-957F-37CAB8AD7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ADC77B-FCCB-4D34-B26A-34C6B032F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646A4F-FB07-4EB3-9489-5121BD17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565470-16D6-471B-8E28-1F6A2F19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D1AAF2-D4A0-4CD9-B0FF-F8ECBC6B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420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382D5-4E24-4B46-A07A-37390BB3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1FBFBC-01B8-42B8-8B04-F329F8E67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D21E14-99F6-46ED-B393-E106B67F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23112-EAC7-448C-8DBF-A61A97EA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CCBA5E-D793-4E5A-9A42-123A5D7B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71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44C7FD-93F4-44DE-B728-1583980AD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B4C201-ABF6-45A0-9E82-AFDB1B972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B9FA50-11E3-40F1-917B-DCF6EEDA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90CAA2-9BCF-4AF3-B947-E5D9DAFA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3E19BB-C8DC-484A-913C-ED884555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11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747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85800"/>
            <a:ext cx="1124712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7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6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E35A8-727D-4160-870A-7BBCCC16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4D423D-BB6F-491C-B00A-90CCF1C5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DC4A8-680D-4F99-BAD2-DF34BFD95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68EAB-0C27-4E01-9CB9-1F2DBEADA2F9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A44E8-399B-4F23-B6FB-E9E1C9170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EFCC7A-644B-4CC6-8F99-FAD008C61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1F339-2633-49BA-917C-2C3D2AD1E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60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51760" y="822960"/>
            <a:ext cx="0" cy="521208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73806" y="2011680"/>
            <a:ext cx="766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i="1" dirty="0">
                <a:solidFill>
                  <a:srgbClr val="43505B"/>
                </a:solidFill>
                <a:latin typeface="Aptos "/>
                <a:ea typeface="Roboto" panose="020B0604020202020204"/>
              </a:rPr>
              <a:t>Расчет экономической эффективности проектирования и разработки серверной части системы управления корпоративной базой знаний с интеллектуальным поиском с помощью чат-бота </a:t>
            </a:r>
          </a:p>
          <a:p>
            <a:r>
              <a:rPr lang="ru-RU" sz="2400" b="1" i="1" dirty="0">
                <a:latin typeface="Aptos "/>
                <a:ea typeface="Roboto" panose="020B0604020202020204"/>
              </a:rPr>
              <a:t>на примере ООО «БС-Платформа»</a:t>
            </a:r>
            <a:endParaRPr lang="ru-RU" sz="2400" b="1" dirty="0">
              <a:latin typeface="Aptos "/>
              <a:ea typeface="Roboto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27500" y="942848"/>
            <a:ext cx="78676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650"/>
              </a:lnSpc>
            </a:pP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Курсовая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работа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по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дисциплине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ОПД.07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Экономика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отрасли</a:t>
            </a:r>
            <a:endParaRPr lang="en-US" sz="2400" dirty="0">
              <a:solidFill>
                <a:srgbClr val="2E4766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71733" y="5600192"/>
            <a:ext cx="516271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6F80"/>
                </a:solidFill>
                <a:latin typeface="Aptos "/>
              </a:rPr>
              <a:t>Гумаров Т. Р.  </a:t>
            </a:r>
            <a:r>
              <a:rPr lang="en-US" sz="2400" b="1" dirty="0" err="1">
                <a:solidFill>
                  <a:srgbClr val="5E6F80"/>
                </a:solidFill>
                <a:latin typeface="Aptos "/>
              </a:rPr>
              <a:t>группа</a:t>
            </a:r>
            <a:r>
              <a:rPr lang="en-US" sz="2400" b="1" dirty="0">
                <a:solidFill>
                  <a:srgbClr val="5E6F80"/>
                </a:solidFill>
                <a:latin typeface="Aptos "/>
              </a:rPr>
              <a:t> ИС-222б</a:t>
            </a:r>
            <a:endParaRPr lang="en-US" sz="2400" b="1" dirty="0">
              <a:latin typeface="Aptos 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4126"/>
          <a:stretch/>
        </p:blipFill>
        <p:spPr>
          <a:xfrm>
            <a:off x="-289058" y="-166401"/>
            <a:ext cx="4332794" cy="7133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Актуальность, цель и задачи исследования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03961"/>
            <a:ext cx="1600200" cy="188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Введение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005839"/>
            <a:ext cx="3794760" cy="2126827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Актуальность</a:t>
            </a:r>
            <a:endParaRPr lang="en-US" sz="15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614084"/>
            <a:ext cx="3337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Рост объема корпоративной информации усложняет поиск знаний. Для ООО «БС-Платформа» важны централизация документации, интеллектуальный поиск и снижение времени на повторяющиеся консультации.</a:t>
            </a:r>
            <a:endParaRPr lang="en-US" sz="135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005839"/>
            <a:ext cx="2880360" cy="2126823"/>
          </a:xfrm>
          <a:prstGeom prst="roundRect">
            <a:avLst>
              <a:gd name="adj" fmla="val 4000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70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Цель работы</a:t>
            </a:r>
            <a:endParaRPr lang="en-US" sz="15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614084"/>
            <a:ext cx="24231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Оценить экономическую целесообразность разработки серверной части системы управления корпоративной базой знаний с чат-ботом.</a:t>
            </a:r>
            <a:endParaRPr lang="en-US" sz="135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0960" y="1005839"/>
            <a:ext cx="3840480" cy="2126819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59" y="1170432"/>
            <a:ext cx="2224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Ожидаемый результат</a:t>
            </a:r>
            <a:endParaRPr lang="en-US" sz="15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09559" y="1542988"/>
            <a:ext cx="33375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Снижение времени поиска информации, уменьшение нагрузки на опытных специалистов и ускорение онбординга сотрудников.</a:t>
            </a:r>
            <a:endParaRPr lang="en-US" sz="135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4952" y="3577235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Задачи исследования</a:t>
            </a:r>
            <a:endParaRPr lang="en-US" sz="1700" dirty="0">
              <a:latin typeface="Aptos 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982980" y="4180738"/>
            <a:ext cx="3108960" cy="1517904"/>
            <a:chOff x="685800" y="3657600"/>
            <a:chExt cx="3108960" cy="1517904"/>
          </a:xfrm>
        </p:grpSpPr>
        <p:sp>
          <p:nvSpPr>
            <p:cNvPr id="16" name="Text 14"/>
            <p:cNvSpPr/>
            <p:nvPr/>
          </p:nvSpPr>
          <p:spPr>
            <a:xfrm>
              <a:off x="68580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01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580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Теоретическая база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Рассмотреть состав и структуру собственного и заемного капитала предприятия.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4360597" y="4173778"/>
            <a:ext cx="3108960" cy="1418577"/>
            <a:chOff x="3977640" y="3657600"/>
            <a:chExt cx="3108960" cy="1418577"/>
          </a:xfrm>
        </p:grpSpPr>
        <p:sp>
          <p:nvSpPr>
            <p:cNvPr id="19" name="Text 17"/>
            <p:cNvSpPr/>
            <p:nvPr/>
          </p:nvSpPr>
          <p:spPr>
            <a:xfrm>
              <a:off x="397764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02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977640" y="3986029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Расчет затрат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977640" y="4161777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Определить величину затрат на проектирование и разработку системы.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8023860" y="4177300"/>
            <a:ext cx="3108960" cy="1517904"/>
            <a:chOff x="7452360" y="3657600"/>
            <a:chExt cx="3108960" cy="1517904"/>
          </a:xfrm>
        </p:grpSpPr>
        <p:sp>
          <p:nvSpPr>
            <p:cNvPr id="22" name="Text 20"/>
            <p:cNvSpPr/>
            <p:nvPr/>
          </p:nvSpPr>
          <p:spPr>
            <a:xfrm>
              <a:off x="745236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03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45236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Эффективность внедрения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45236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Рассчитать годовой экономический эффект, коэффициент эффективности и срок окупаемости.</a:t>
              </a:r>
              <a:endParaRPr lang="en-US" sz="1320" dirty="0">
                <a:latin typeface="Aptos 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Собственный и заемный капитал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Капитал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058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07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Собственный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4663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формируется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за счет уставного капитала и прибыли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не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требует возврата и выплаты процентов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снижает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финансовые риски проекта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обеспечивает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контроль над сроками и бюджетом разработки</a:t>
            </a:r>
            <a:endParaRPr lang="en-US" sz="1400" dirty="0">
              <a:latin typeface="Aptos 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5944"/>
                </a:solidFill>
                <a:latin typeface="Aptos "/>
              </a:rPr>
              <a:t>Заемный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1572768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привлекается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на условиях возвратности и платности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ускоряет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реализацию крупных проектов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увеличивает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долговую нагрузку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требует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обслуживания процентов и снижает финансовую устойчивость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808208" cy="1554480"/>
          </a:xfrm>
          <a:prstGeom prst="roundRect">
            <a:avLst>
              <a:gd name="adj" fmla="val 4706"/>
            </a:avLst>
          </a:prstGeom>
          <a:solidFill>
            <a:srgbClr val="D7EBE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97680"/>
            <a:ext cx="4221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Вывод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 для проекта 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9966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 "/>
              </a:rPr>
              <a:t>Разработка ведется силами внутренних специалистов и направлена на оптимизацию внутренних процессов компании, поэтому наиболее рационально использовать собственный капитал предприятия.</a:t>
            </a:r>
            <a:endParaRPr lang="en-US" sz="1420" dirty="0">
              <a:latin typeface="Aptos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Проект и предметная область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П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редметная</a:t>
            </a: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 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область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84803"/>
            <a:ext cx="3383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Компания развивает корпоративные ИТ-решения. Для неё критично быстро находить внутренние инструкции, архитектурные описания и накопленные знания специалистов.</a:t>
            </a:r>
            <a:endParaRPr lang="en-US" sz="14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Разрабатываемая система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9170" y="1709927"/>
            <a:ext cx="2683219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серверная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часть на </a:t>
            </a:r>
            <a:r>
              <a:rPr lang="en-US" sz="1400" dirty="0" err="1">
                <a:solidFill>
                  <a:srgbClr val="334155"/>
                </a:solidFill>
                <a:latin typeface="Aptos "/>
              </a:rPr>
              <a:t>Kotlin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/ Spring Boot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PostgreSQL + MongoDB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интеллектуальный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поиск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чат-бот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для работы с базой знаний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0058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Практический эффект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61019" y="1729768"/>
            <a:ext cx="3206063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быстрее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поиск информации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меньше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повторных консультаций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ускорение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адаптации новых сотрудников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>
                <a:solidFill>
                  <a:srgbClr val="334155"/>
                </a:solidFill>
                <a:latin typeface="Aptos "/>
              </a:rPr>
              <a:t>централизованное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хранение знаний</a:t>
            </a:r>
            <a:endParaRPr lang="en-US" sz="140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552486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Логика ценности проекта</a:t>
            </a:r>
            <a:endParaRPr lang="en-US" sz="1700" dirty="0">
              <a:latin typeface="Aptos 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Разрозненные знания</a:t>
            </a:r>
            <a:endParaRPr lang="en-US" sz="1600" dirty="0">
              <a:latin typeface="Aptos "/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6DEF5CD-A605-4561-8F66-935F39D0E696}"/>
              </a:ext>
            </a:extLst>
          </p:cNvPr>
          <p:cNvGrpSpPr/>
          <p:nvPr/>
        </p:nvGrpSpPr>
        <p:grpSpPr>
          <a:xfrm>
            <a:off x="4640580" y="4114800"/>
            <a:ext cx="2880360" cy="1051560"/>
            <a:chOff x="4069080" y="4114800"/>
            <a:chExt cx="2880360" cy="1051560"/>
          </a:xfrm>
        </p:grpSpPr>
        <p:sp>
          <p:nvSpPr>
            <p:cNvPr id="18" name="Shape 16"/>
            <p:cNvSpPr/>
            <p:nvPr/>
          </p:nvSpPr>
          <p:spPr>
            <a:xfrm>
              <a:off x="4069080" y="4114800"/>
              <a:ext cx="2880360" cy="1051560"/>
            </a:xfrm>
            <a:prstGeom prst="roundRect">
              <a:avLst>
                <a:gd name="adj" fmla="val 6957"/>
              </a:avLst>
            </a:prstGeom>
            <a:solidFill>
              <a:srgbClr val="D8EDF0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233672" y="4416552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Интеллектуальный поиск + чат-бот</a:t>
              </a:r>
              <a:endParaRPr lang="en-US" sz="1600" dirty="0">
                <a:latin typeface="Aptos 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FA430BA-51F9-486E-B045-0C8A2C882313}"/>
              </a:ext>
            </a:extLst>
          </p:cNvPr>
          <p:cNvGrpSpPr/>
          <p:nvPr/>
        </p:nvGrpSpPr>
        <p:grpSpPr>
          <a:xfrm>
            <a:off x="8383610" y="4114800"/>
            <a:ext cx="3168396" cy="1051560"/>
            <a:chOff x="7765542" y="4114800"/>
            <a:chExt cx="3168396" cy="1051560"/>
          </a:xfrm>
        </p:grpSpPr>
        <p:sp>
          <p:nvSpPr>
            <p:cNvPr id="20" name="Shape 18"/>
            <p:cNvSpPr/>
            <p:nvPr/>
          </p:nvSpPr>
          <p:spPr>
            <a:xfrm>
              <a:off x="7765542" y="4114800"/>
              <a:ext cx="3168396" cy="1051560"/>
            </a:xfrm>
            <a:prstGeom prst="roundRect">
              <a:avLst>
                <a:gd name="adj" fmla="val 6957"/>
              </a:avLst>
            </a:prstGeom>
            <a:solidFill>
              <a:srgbClr val="E8F2F5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7946136" y="4416552"/>
              <a:ext cx="2816352" cy="38404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Экономия времени и затрат</a:t>
              </a:r>
              <a:endParaRPr lang="en-US" sz="1600" dirty="0">
                <a:latin typeface="Aptos 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Перечень работ по стадиям проектирования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Трудоемкость</a:t>
            </a:r>
            <a:endParaRPr lang="en-US" sz="960" dirty="0">
              <a:latin typeface="Aptos 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737360"/>
          <a:ext cx="6126480" cy="27889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Наименование этапа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Трудоемкость, чел·ч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Удельный вес, %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Исполнители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Проектирование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Руководитель, 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Разработка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Тестирование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Оформление документов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8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Итого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100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 руководитель, 1 программист</a:t>
                      </a:r>
                      <a:endParaRPr lang="en-US" sz="125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7086600" y="123444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7086600" y="47548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4965192"/>
            <a:ext cx="3931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ptos "/>
              </a:rPr>
              <a:t>Наибольшая доля трудозатрат приходится на разработку информационной системы — 140 чел·ч, или 56% от общего объема работ.</a:t>
            </a:r>
            <a:endParaRPr lang="en-US" sz="1320" dirty="0">
              <a:latin typeface="Aptos 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Структура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постоянных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 и переменных издержек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 err="1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Издержеки</a:t>
            </a:r>
            <a:endParaRPr lang="en-US" sz="960" dirty="0">
              <a:latin typeface="Aptos 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Постоянные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1234440"/>
          <a:ext cx="5166360" cy="190804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Вид постоянных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Затраты,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Амортизационные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Текущий ремонт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914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Переменные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3" name="Table 1"/>
          <p:cNvGraphicFramePr>
            <a:graphicFrameLocks noGrp="1"/>
          </p:cNvGraphicFramePr>
          <p:nvPr/>
        </p:nvGraphicFramePr>
        <p:xfrm>
          <a:off x="6172200" y="1234440"/>
          <a:ext cx="5212080" cy="26334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Вид переменных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Величина,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Материальные 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2 358,24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1,42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Оплата труда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115 575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69,43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Страховые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34 672,5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20,83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Накладные расходы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13 869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8,33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166 474,74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744E193-74D4-4A45-B314-92FC1109FB82}"/>
              </a:ext>
            </a:extLst>
          </p:cNvPr>
          <p:cNvGrpSpPr/>
          <p:nvPr/>
        </p:nvGrpSpPr>
        <p:grpSpPr>
          <a:xfrm>
            <a:off x="6217920" y="4160519"/>
            <a:ext cx="5166360" cy="1689947"/>
            <a:chOff x="685800" y="4160520"/>
            <a:chExt cx="10698480" cy="1115568"/>
          </a:xfrm>
        </p:grpSpPr>
        <p:sp>
          <p:nvSpPr>
            <p:cNvPr id="10" name="Shape 6"/>
            <p:cNvSpPr/>
            <p:nvPr/>
          </p:nvSpPr>
          <p:spPr>
            <a:xfrm>
              <a:off x="685800" y="4160520"/>
              <a:ext cx="10698480" cy="1115568"/>
            </a:xfrm>
            <a:prstGeom prst="roundRect">
              <a:avLst>
                <a:gd name="adj" fmla="val 6557"/>
              </a:avLst>
            </a:prstGeom>
            <a:solidFill>
              <a:srgbClr val="D8EDF0"/>
            </a:solidFill>
            <a:ln w="12700">
              <a:solidFill>
                <a:srgbClr val="D9D4CA"/>
              </a:solidFill>
              <a:prstDash val="solid"/>
            </a:ln>
          </p:spPr>
        </p:sp>
        <p:sp>
          <p:nvSpPr>
            <p:cNvPr id="11" name="Text 7"/>
            <p:cNvSpPr/>
            <p:nvPr/>
          </p:nvSpPr>
          <p:spPr>
            <a:xfrm>
              <a:off x="865578" y="4389120"/>
              <a:ext cx="3354823" cy="6023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E4766"/>
                  </a:solidFill>
                  <a:latin typeface="Aptos "/>
                </a:rPr>
                <a:t>Ключевой вывод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4220401" y="4315381"/>
              <a:ext cx="6866699" cy="749808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/>
            <a:lstStyle/>
            <a:p>
              <a:pPr marL="0" indent="0">
                <a:buNone/>
              </a:pPr>
              <a:r>
                <a:rPr lang="en-US" sz="1360" dirty="0">
                  <a:solidFill>
                    <a:srgbClr val="334155"/>
                  </a:solidFill>
                  <a:latin typeface="Aptos "/>
                </a:rPr>
                <a:t>В структуре затрат доминируют переменные издержки, прежде всего оплата труда и страховые отчисления. Это типично для ИТ-проектов с высокой долей интеллектуального труда.</a:t>
              </a:r>
              <a:endParaRPr lang="en-US" sz="1360" dirty="0">
                <a:latin typeface="Aptos "/>
              </a:endParaRPr>
            </a:p>
          </p:txBody>
        </p:sp>
      </p:grp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CE4A94A7-C91E-45B5-9C3D-22C22A402F11}"/>
              </a:ext>
            </a:extLst>
          </p:cNvPr>
          <p:cNvGraphicFramePr/>
          <p:nvPr/>
        </p:nvGraphicFramePr>
        <p:xfrm>
          <a:off x="724481" y="3169157"/>
          <a:ext cx="4493296" cy="2800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Что предлагается и какие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проблемы</a:t>
            </a: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</a:rPr>
              <a:t> </a:t>
            </a:r>
            <a:r>
              <a:rPr lang="en-US" sz="2400" dirty="0" err="1">
                <a:solidFill>
                  <a:srgbClr val="2E4766"/>
                </a:solidFill>
                <a:latin typeface="Aptos "/>
                <a:ea typeface="Aptos" pitchFamily="34" charset="-122"/>
              </a:rPr>
              <a:t>решаются</a:t>
            </a:r>
            <a:endParaRPr lang="en-US" sz="2400" dirty="0">
              <a:solidFill>
                <a:srgbClr val="2E4766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376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55C"/>
                </a:solidFill>
              </a:rPr>
              <a:t>Проблемы до внедрения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69672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DDECF2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925320"/>
            <a:ext cx="46634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длительный</a:t>
            </a:r>
            <a:r>
              <a:rPr lang="en-US" sz="1400" dirty="0">
                <a:solidFill>
                  <a:srgbClr val="2F455C"/>
                </a:solidFill>
              </a:rPr>
              <a:t> поиск документов и </a:t>
            </a:r>
            <a:r>
              <a:rPr lang="en-US" sz="1400" dirty="0" err="1">
                <a:solidFill>
                  <a:srgbClr val="2F455C"/>
                </a:solidFill>
              </a:rPr>
              <a:t>инструкций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потеря</a:t>
            </a:r>
            <a:r>
              <a:rPr lang="en-US" sz="1400" dirty="0">
                <a:solidFill>
                  <a:srgbClr val="2F455C"/>
                </a:solidFill>
              </a:rPr>
              <a:t> рабочего </a:t>
            </a:r>
            <a:r>
              <a:rPr lang="en-US" sz="1400" dirty="0" err="1">
                <a:solidFill>
                  <a:srgbClr val="2F455C"/>
                </a:solidFill>
              </a:rPr>
              <a:t>времени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команды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повторяющиеся</a:t>
            </a:r>
            <a:r>
              <a:rPr lang="en-US" sz="1400" dirty="0">
                <a:solidFill>
                  <a:srgbClr val="2F455C"/>
                </a:solidFill>
              </a:rPr>
              <a:t> консультации у </a:t>
            </a:r>
            <a:r>
              <a:rPr lang="en-US" sz="1400" dirty="0" err="1">
                <a:solidFill>
                  <a:srgbClr val="2F455C"/>
                </a:solidFill>
              </a:rPr>
              <a:t>опытных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специалистов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ru-RU" sz="1400" dirty="0">
              <a:solidFill>
                <a:srgbClr val="2F455C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затрудненная</a:t>
            </a:r>
            <a:r>
              <a:rPr lang="en-US" sz="1400" dirty="0">
                <a:solidFill>
                  <a:srgbClr val="2F455C"/>
                </a:solidFill>
              </a:rPr>
              <a:t> адаптация новых сотрудников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1376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55C"/>
                </a:solidFill>
              </a:rPr>
              <a:t>Результат после внедрения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6967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DDECF2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925320"/>
            <a:ext cx="51206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снижение</a:t>
            </a:r>
            <a:r>
              <a:rPr lang="en-US" sz="1400" dirty="0">
                <a:solidFill>
                  <a:srgbClr val="2F455C"/>
                </a:solidFill>
              </a:rPr>
              <a:t> трудозатрат на </a:t>
            </a:r>
            <a:r>
              <a:rPr lang="en-US" sz="1400" dirty="0" err="1">
                <a:solidFill>
                  <a:srgbClr val="2F455C"/>
                </a:solidFill>
              </a:rPr>
              <a:t>поиск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информации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экономия</a:t>
            </a:r>
            <a:r>
              <a:rPr lang="en-US" sz="1400" dirty="0">
                <a:solidFill>
                  <a:srgbClr val="2F455C"/>
                </a:solidFill>
              </a:rPr>
              <a:t> времени </a:t>
            </a:r>
            <a:r>
              <a:rPr lang="en-US" sz="1400" dirty="0" err="1">
                <a:solidFill>
                  <a:srgbClr val="2F455C"/>
                </a:solidFill>
              </a:rPr>
              <a:t>команды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разработчиков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уменьшение</a:t>
            </a:r>
            <a:r>
              <a:rPr lang="en-US" sz="1400" dirty="0">
                <a:solidFill>
                  <a:srgbClr val="2F455C"/>
                </a:solidFill>
              </a:rPr>
              <a:t> нагрузки на </a:t>
            </a:r>
            <a:r>
              <a:rPr lang="en-US" sz="1400" dirty="0" err="1">
                <a:solidFill>
                  <a:srgbClr val="2F455C"/>
                </a:solidFill>
              </a:rPr>
              <a:t>старших</a:t>
            </a:r>
            <a:r>
              <a:rPr lang="en-US" sz="1400" dirty="0">
                <a:solidFill>
                  <a:srgbClr val="2F455C"/>
                </a:solidFill>
              </a:rPr>
              <a:t> </a:t>
            </a:r>
            <a:r>
              <a:rPr lang="en-US" sz="1400" dirty="0" err="1">
                <a:solidFill>
                  <a:srgbClr val="2F455C"/>
                </a:solidFill>
              </a:rPr>
              <a:t>специалистов</a:t>
            </a:r>
            <a:br>
              <a:rPr lang="ru-RU" sz="1400" dirty="0">
                <a:solidFill>
                  <a:srgbClr val="2F455C"/>
                </a:solidFill>
              </a:rPr>
            </a:b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 err="1">
                <a:solidFill>
                  <a:srgbClr val="2F455C"/>
                </a:solidFill>
              </a:rPr>
              <a:t>ускорение</a:t>
            </a:r>
            <a:r>
              <a:rPr lang="en-US" sz="1400" dirty="0">
                <a:solidFill>
                  <a:srgbClr val="2F455C"/>
                </a:solidFill>
              </a:rPr>
              <a:t> онбординга и повышение доступности знаний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4394200"/>
            <a:ext cx="9043670" cy="1216152"/>
          </a:xfrm>
          <a:prstGeom prst="roundRect">
            <a:avLst>
              <a:gd name="adj" fmla="val 7500"/>
            </a:avLst>
          </a:prstGeom>
          <a:solidFill>
            <a:srgbClr val="EDF8F5"/>
          </a:solidFill>
          <a:ln w="12700">
            <a:solidFill>
              <a:srgbClr val="C7DBE3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21408" y="4485639"/>
            <a:ext cx="8490858" cy="260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455C"/>
                </a:solidFill>
              </a:rPr>
              <a:t>Ключевая идея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10308" y="4787645"/>
            <a:ext cx="8490858" cy="449421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F455C"/>
                </a:solidFill>
              </a:rPr>
              <a:t>Система не только хранит знания, но и превращает их в быстрый рабочий инструмент для сотрудников через интеллектуальный поиск и чат-бот.</a:t>
            </a:r>
            <a:endParaRPr lang="en-US" sz="14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28043573-D892-4243-A257-CA7A452C9877}"/>
              </a:ext>
            </a:extLst>
          </p:cNvPr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30487B79-7D21-4A02-90C2-8FF4EC88C773}"/>
              </a:ext>
            </a:extLst>
          </p:cNvPr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Предложенное решение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Годовой экономический эффект от внедрения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Э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кономический</a:t>
            </a: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</a:rPr>
              <a:t> </a:t>
            </a:r>
            <a:r>
              <a:rPr lang="en-US" sz="960" dirty="0" err="1">
                <a:solidFill>
                  <a:srgbClr val="5E6F80"/>
                </a:solidFill>
                <a:latin typeface="Aptos "/>
                <a:ea typeface="Aptos" pitchFamily="34" charset="-122"/>
              </a:rPr>
              <a:t>эффект</a:t>
            </a:r>
            <a:endParaRPr lang="en-US" sz="960" dirty="0">
              <a:solidFill>
                <a:srgbClr val="5E6F80"/>
              </a:solidFill>
              <a:latin typeface="Aptos "/>
              <a:ea typeface="Aptos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70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Изменение времени поиска знаний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1783080"/>
            <a:ext cx="3154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До внедрения — 3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После внедрения — 0,5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Экономия — 2,5 ч/нед. на 1 разработчика</a:t>
            </a:r>
            <a:endParaRPr lang="en-US" sz="15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01978"/>
            <a:ext cx="2430710" cy="35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Исходные параметры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8888" y="1801368"/>
            <a:ext cx="2240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Ставка: 250 руб./ч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Команда: 5 разработчиков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Период: 52 недели</a:t>
            </a:r>
            <a:endParaRPr lang="en-US" sz="15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96012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2529" y="1080419"/>
            <a:ext cx="3003008" cy="69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Формула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 </a:t>
            </a:r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расчета</a:t>
            </a:r>
            <a:r>
              <a:rPr lang="ru-RU" sz="1700" b="1" dirty="0">
                <a:solidFill>
                  <a:srgbClr val="2E4766"/>
                </a:solidFill>
                <a:latin typeface="Aptos "/>
              </a:rPr>
              <a:t> экономического эффекта </a:t>
            </a:r>
            <a:endParaRPr lang="en-US" sz="17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52346" y="1988820"/>
            <a:ext cx="3623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Э = 2,5 × 250 × 5 × 52 = 162 500 руб./</a:t>
            </a:r>
            <a:r>
              <a:rPr lang="en-US" sz="1600" b="1" dirty="0" err="1">
                <a:solidFill>
                  <a:srgbClr val="2E4766"/>
                </a:solidFill>
                <a:latin typeface="Aptos "/>
              </a:rPr>
              <a:t>годa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6" name="Chart 0"/>
          <p:cNvGraphicFramePr/>
          <p:nvPr/>
        </p:nvGraphicFramePr>
        <p:xfrm>
          <a:off x="822960" y="342900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914400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Сценарии экономии</a:t>
            </a:r>
            <a:endParaRPr lang="en-US" sz="1600" dirty="0">
              <a:latin typeface="Aptos 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720840" y="34290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39" y="3607308"/>
            <a:ext cx="185061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Интерпретация</a:t>
            </a:r>
            <a:endParaRPr lang="en-US" sz="1600" dirty="0">
              <a:latin typeface="Aptos 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949440" y="3950208"/>
            <a:ext cx="4160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Для презентации принят средний сценарий: до внедрения сотрудники тратили 3 часа в неделю на поиск информации, после внедрения — 30 минут. Это дает реалистичную годовую экономию 162 500 руб.</a:t>
            </a:r>
            <a:endParaRPr lang="en-US" sz="1400" dirty="0">
              <a:latin typeface="Aptos 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Себестоимость, прибыль и цена системы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24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Цена системы</a:t>
            </a:r>
            <a:endParaRPr lang="en-US" sz="960" dirty="0">
              <a:latin typeface="Aptos 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30010" y="1425959"/>
            <a:ext cx="2606040" cy="932685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46748" y="1570482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766"/>
                </a:solidFill>
                <a:latin typeface="Aptos "/>
              </a:rPr>
              <a:t>Полная себестоимость</a:t>
            </a:r>
            <a:endParaRPr lang="en-US" sz="1400" dirty="0">
              <a:latin typeface="Aptos 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46748" y="200990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Зоб = 169 280,74 руб.</a:t>
            </a:r>
            <a:endParaRPr lang="en-US" dirty="0">
              <a:latin typeface="Aptos 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529067" y="2651929"/>
            <a:ext cx="3278633" cy="930487"/>
          </a:xfrm>
          <a:prstGeom prst="roundRect">
            <a:avLst>
              <a:gd name="adj" fmla="val 695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7721" y="2723980"/>
            <a:ext cx="37867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5944"/>
                </a:solidFill>
                <a:latin typeface="Aptos "/>
              </a:rPr>
              <a:t>Прибыль </a:t>
            </a:r>
            <a:r>
              <a:rPr lang="en-US" sz="1400" b="1" dirty="0" err="1">
                <a:solidFill>
                  <a:srgbClr val="355944"/>
                </a:solidFill>
                <a:latin typeface="Aptos "/>
              </a:rPr>
              <a:t>при</a:t>
            </a:r>
            <a:r>
              <a:rPr lang="en-US" sz="1400" b="1" dirty="0">
                <a:solidFill>
                  <a:srgbClr val="355944"/>
                </a:solidFill>
                <a:latin typeface="Aptos "/>
              </a:rPr>
              <a:t> </a:t>
            </a:r>
            <a:r>
              <a:rPr lang="en-US" sz="1400" b="1" dirty="0" err="1">
                <a:solidFill>
                  <a:srgbClr val="355944"/>
                </a:solidFill>
                <a:latin typeface="Aptos "/>
              </a:rPr>
              <a:t>рентабельности</a:t>
            </a:r>
            <a:r>
              <a:rPr lang="en-US" sz="1400" b="1" dirty="0">
                <a:solidFill>
                  <a:srgbClr val="355944"/>
                </a:solidFill>
                <a:latin typeface="Aptos "/>
              </a:rPr>
              <a:t> 10%</a:t>
            </a:r>
            <a:endParaRPr lang="en-US" sz="1400" dirty="0">
              <a:latin typeface="Aptos 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49107" y="31460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П = 16 928,07 руб.</a:t>
            </a:r>
            <a:endParaRPr lang="en-US" dirty="0">
              <a:latin typeface="Aptos 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256015" y="1441791"/>
            <a:ext cx="2593086" cy="916853"/>
          </a:xfrm>
          <a:prstGeom prst="roundRect">
            <a:avLst>
              <a:gd name="adj" fmla="val 695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37624" y="1536489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4766"/>
                </a:solidFill>
                <a:latin typeface="Aptos "/>
              </a:rPr>
              <a:t>Цена системы с НДС 22%</a:t>
            </a:r>
            <a:endParaRPr lang="en-US" sz="14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37624" y="20072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4766"/>
                </a:solidFill>
                <a:latin typeface="Aptos "/>
              </a:rPr>
              <a:t>Ц = 227 174,75 руб.</a:t>
            </a:r>
            <a:endParaRPr lang="en-US" dirty="0">
              <a:latin typeface="Aptos "/>
            </a:endParaRPr>
          </a:p>
        </p:txBody>
      </p:sp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D567664B-E586-418B-A731-A5D3CAA6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274279"/>
              </p:ext>
            </p:extLst>
          </p:nvPr>
        </p:nvGraphicFramePr>
        <p:xfrm>
          <a:off x="394649" y="2651929"/>
          <a:ext cx="5827271" cy="328089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27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55C"/>
                          </a:solidFill>
                        </a:rPr>
                        <a:t>Показатель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F455C"/>
                          </a:solidFill>
                        </a:rPr>
                        <a:t>Величина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Трудозатраты на разработку проекта, чел*час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Затраты на разработку проекта, руб.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169 280,74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Годовой экономический эффект, руб.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162 500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Коэффициент экономической эффективности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0,96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Срок окупаемости, мес.</a:t>
                      </a:r>
                      <a:endParaRPr lang="en-US" sz="14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F455C"/>
                          </a:solidFill>
                        </a:rPr>
                        <a:t>12,5</a:t>
                      </a:r>
                      <a:endParaRPr lang="en-US" sz="14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Итоги и выводы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24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71956" y="102057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9116" y="126745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162 500</a:t>
            </a:r>
            <a:endParaRPr lang="en-US" sz="26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18260" y="179781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годовой экономический эффект, руб.</a:t>
            </a:r>
            <a:endParaRPr lang="en-US" sz="127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24400" y="104343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1560" y="126745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0,96</a:t>
            </a:r>
            <a:endParaRPr lang="en-US" sz="26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0704" y="179781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коэффициент экономической эффективности</a:t>
            </a:r>
            <a:endParaRPr lang="en-US" sz="127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76844" y="104343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4004" y="129031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12,5</a:t>
            </a:r>
            <a:endParaRPr lang="en-US" sz="26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23148" y="182067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срок окупаемости, мес.</a:t>
            </a:r>
            <a:endParaRPr lang="en-US" sz="1270" dirty="0">
              <a:latin typeface="Aptos 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71956" y="3511550"/>
            <a:ext cx="9848088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8260" y="3626096"/>
            <a:ext cx="2302510" cy="37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Ключевые выводы</a:t>
            </a:r>
            <a:endParaRPr lang="en-US" sz="1800" dirty="0">
              <a:latin typeface="Aptos 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18260" y="4151630"/>
            <a:ext cx="961009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проект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финансируется за счет собственного капитала и не увеличивает долговую нагрузку компании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себестоимость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разработки составила 169 280,74 руб., цена системы — 227 174,75 руб.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коэффициент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эффективности 0,96 значительно выше нормативного значения 0,15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>
                <a:solidFill>
                  <a:srgbClr val="334155"/>
                </a:solidFill>
                <a:latin typeface="Aptos "/>
              </a:rPr>
              <a:t>внедрение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 базы знаний с чат-ботом уменьшает время поиска информации и повышает управляемость корпоративных знаний</a:t>
            </a:r>
            <a:endParaRPr lang="en-US" sz="1500" dirty="0">
              <a:latin typeface="Aptos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986</Words>
  <Application>Microsoft Office PowerPoint</Application>
  <PresentationFormat>Широкоэкранный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timur</dc:creator>
  <cp:lastModifiedBy>timur</cp:lastModifiedBy>
  <cp:revision>2</cp:revision>
  <dcterms:created xsi:type="dcterms:W3CDTF">2026-03-24T18:53:51Z</dcterms:created>
  <dcterms:modified xsi:type="dcterms:W3CDTF">2026-03-24T19:01:48Z</dcterms:modified>
</cp:coreProperties>
</file>