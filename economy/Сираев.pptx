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Брагин Кирилл Федорович" initials="БКФ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05B"/>
    <a:srgbClr val="FAF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3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329314"/>
            <a:ext cx="7931110" cy="425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4400" i="1" dirty="0" smtClean="0">
                <a:solidFill>
                  <a:srgbClr val="43505B"/>
                </a:solidFill>
                <a:ea typeface="Roboto" panose="020B0604020202020204"/>
              </a:rPr>
              <a:t>Расчет </a:t>
            </a:r>
            <a:r>
              <a:rPr lang="ru-RU" sz="4400" i="1" dirty="0">
                <a:solidFill>
                  <a:srgbClr val="43505B"/>
                </a:solidFill>
                <a:ea typeface="Roboto" panose="020B0604020202020204"/>
              </a:rPr>
              <a:t>экономической эффективности   проектирование и разработка информационной системы для автоматизации создания клиент-серверного </a:t>
            </a:r>
            <a:r>
              <a:rPr lang="ru-RU" sz="4400" i="1" dirty="0" smtClean="0">
                <a:solidFill>
                  <a:srgbClr val="43505B"/>
                </a:solidFill>
                <a:ea typeface="Roboto" panose="020B0604020202020204"/>
              </a:rPr>
              <a:t>приложения</a:t>
            </a:r>
            <a:endParaRPr lang="ru-RU" sz="4400" dirty="0">
              <a:solidFill>
                <a:srgbClr val="43505B"/>
              </a:solidFill>
              <a:ea typeface="Roboto" panose="020B060402020202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6241137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Курсовая работа по дисциплине ОПД.07 Экономика отрасли</a:t>
            </a:r>
            <a:endParaRPr lang="en-US" sz="1750" dirty="0"/>
          </a:p>
        </p:txBody>
      </p:sp>
      <p:sp>
        <p:nvSpPr>
          <p:cNvPr id="5" name="AutoShape 2" descr="Сформированное изображение"/>
          <p:cNvSpPr>
            <a:spLocks noChangeAspect="1" noChangeArrowheads="1"/>
          </p:cNvSpPr>
          <p:nvPr/>
        </p:nvSpPr>
        <p:spPr bwMode="auto">
          <a:xfrm>
            <a:off x="155575" y="-4678363"/>
            <a:ext cx="14630400" cy="975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 descr="Сформированное изображение"/>
          <p:cNvSpPr>
            <a:spLocks noChangeAspect="1" noChangeArrowheads="1"/>
          </p:cNvSpPr>
          <p:nvPr/>
        </p:nvSpPr>
        <p:spPr bwMode="auto">
          <a:xfrm>
            <a:off x="307975" y="-4525963"/>
            <a:ext cx="14630400" cy="975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8" descr="Сформированное изображение"/>
          <p:cNvSpPr>
            <a:spLocks noChangeAspect="1" noChangeArrowheads="1"/>
          </p:cNvSpPr>
          <p:nvPr/>
        </p:nvSpPr>
        <p:spPr bwMode="auto">
          <a:xfrm>
            <a:off x="460375" y="2638954"/>
            <a:ext cx="4111625" cy="274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87"/>
          <a:stretch/>
        </p:blipFill>
        <p:spPr>
          <a:xfrm>
            <a:off x="27821" y="0"/>
            <a:ext cx="5075121" cy="8229600"/>
          </a:xfrm>
          <a:prstGeom prst="rect">
            <a:avLst/>
          </a:prstGeom>
        </p:spPr>
      </p:pic>
      <p:sp>
        <p:nvSpPr>
          <p:cNvPr id="10" name="Равнобедренный треугольник 9"/>
          <p:cNvSpPr/>
          <p:nvPr/>
        </p:nvSpPr>
        <p:spPr>
          <a:xfrm rot="10800000">
            <a:off x="3161546" y="-2"/>
            <a:ext cx="1941395" cy="8178799"/>
          </a:xfrm>
          <a:custGeom>
            <a:avLst/>
            <a:gdLst>
              <a:gd name="connsiteX0" fmla="*/ 0 w 4629190"/>
              <a:gd name="connsiteY0" fmla="*/ 8229600 h 8229600"/>
              <a:gd name="connsiteX1" fmla="*/ 0 w 4629190"/>
              <a:gd name="connsiteY1" fmla="*/ 0 h 8229600"/>
              <a:gd name="connsiteX2" fmla="*/ 4629190 w 4629190"/>
              <a:gd name="connsiteY2" fmla="*/ 8229600 h 8229600"/>
              <a:gd name="connsiteX3" fmla="*/ 0 w 4629190"/>
              <a:gd name="connsiteY3" fmla="*/ 8229600 h 8229600"/>
              <a:gd name="connsiteX0" fmla="*/ 2190710 w 2190710"/>
              <a:gd name="connsiteY0" fmla="*/ 8229600 h 8229600"/>
              <a:gd name="connsiteX1" fmla="*/ 2190710 w 2190710"/>
              <a:gd name="connsiteY1" fmla="*/ 0 h 8229600"/>
              <a:gd name="connsiteX2" fmla="*/ 0 w 2190710"/>
              <a:gd name="connsiteY2" fmla="*/ 8216900 h 8229600"/>
              <a:gd name="connsiteX3" fmla="*/ 2190710 w 2190710"/>
              <a:gd name="connsiteY3" fmla="*/ 8229600 h 8229600"/>
              <a:gd name="connsiteX0" fmla="*/ 2190710 w 2190710"/>
              <a:gd name="connsiteY0" fmla="*/ 8216900 h 8216900"/>
              <a:gd name="connsiteX1" fmla="*/ 19010 w 2190710"/>
              <a:gd name="connsiteY1" fmla="*/ 0 h 8216900"/>
              <a:gd name="connsiteX2" fmla="*/ 0 w 2190710"/>
              <a:gd name="connsiteY2" fmla="*/ 8204200 h 8216900"/>
              <a:gd name="connsiteX3" fmla="*/ 2190710 w 2190710"/>
              <a:gd name="connsiteY3" fmla="*/ 8216900 h 8216900"/>
              <a:gd name="connsiteX0" fmla="*/ 2190710 w 2190710"/>
              <a:gd name="connsiteY0" fmla="*/ 8188325 h 8188325"/>
              <a:gd name="connsiteX1" fmla="*/ 9485 w 2190710"/>
              <a:gd name="connsiteY1" fmla="*/ 0 h 8188325"/>
              <a:gd name="connsiteX2" fmla="*/ 0 w 2190710"/>
              <a:gd name="connsiteY2" fmla="*/ 8175625 h 8188325"/>
              <a:gd name="connsiteX3" fmla="*/ 2190710 w 2190710"/>
              <a:gd name="connsiteY3" fmla="*/ 8188325 h 8188325"/>
              <a:gd name="connsiteX0" fmla="*/ 2190710 w 2190710"/>
              <a:gd name="connsiteY0" fmla="*/ 8178800 h 8178800"/>
              <a:gd name="connsiteX1" fmla="*/ 7103 w 2190710"/>
              <a:gd name="connsiteY1" fmla="*/ 0 h 8178800"/>
              <a:gd name="connsiteX2" fmla="*/ 0 w 2190710"/>
              <a:gd name="connsiteY2" fmla="*/ 8166100 h 8178800"/>
              <a:gd name="connsiteX3" fmla="*/ 2190710 w 2190710"/>
              <a:gd name="connsiteY3" fmla="*/ 8178800 h 8178800"/>
              <a:gd name="connsiteX0" fmla="*/ 2188329 w 2188329"/>
              <a:gd name="connsiteY0" fmla="*/ 8178800 h 8178800"/>
              <a:gd name="connsiteX1" fmla="*/ 4722 w 2188329"/>
              <a:gd name="connsiteY1" fmla="*/ 0 h 8178800"/>
              <a:gd name="connsiteX2" fmla="*/ 0 w 2188329"/>
              <a:gd name="connsiteY2" fmla="*/ 8178006 h 8178800"/>
              <a:gd name="connsiteX3" fmla="*/ 2188329 w 2188329"/>
              <a:gd name="connsiteY3" fmla="*/ 8178800 h 8178800"/>
              <a:gd name="connsiteX0" fmla="*/ 1539532 w 1539532"/>
              <a:gd name="connsiteY0" fmla="*/ 8166100 h 8178006"/>
              <a:gd name="connsiteX1" fmla="*/ 4722 w 1539532"/>
              <a:gd name="connsiteY1" fmla="*/ 0 h 8178006"/>
              <a:gd name="connsiteX2" fmla="*/ 0 w 1539532"/>
              <a:gd name="connsiteY2" fmla="*/ 8178006 h 8178006"/>
              <a:gd name="connsiteX3" fmla="*/ 1539532 w 1539532"/>
              <a:gd name="connsiteY3" fmla="*/ 8166100 h 8178006"/>
              <a:gd name="connsiteX0" fmla="*/ 1549669 w 1549669"/>
              <a:gd name="connsiteY0" fmla="*/ 8178800 h 8178800"/>
              <a:gd name="connsiteX1" fmla="*/ 4722 w 1549669"/>
              <a:gd name="connsiteY1" fmla="*/ 0 h 8178800"/>
              <a:gd name="connsiteX2" fmla="*/ 0 w 1549669"/>
              <a:gd name="connsiteY2" fmla="*/ 8178006 h 8178800"/>
              <a:gd name="connsiteX3" fmla="*/ 1549669 w 1549669"/>
              <a:gd name="connsiteY3" fmla="*/ 8178800 h 817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49669" h="8178800">
                <a:moveTo>
                  <a:pt x="1549669" y="8178800"/>
                </a:moveTo>
                <a:lnTo>
                  <a:pt x="4722" y="0"/>
                </a:lnTo>
                <a:cubicBezTo>
                  <a:pt x="-1615" y="2734733"/>
                  <a:pt x="6337" y="5443273"/>
                  <a:pt x="0" y="8178006"/>
                </a:cubicBezTo>
                <a:lnTo>
                  <a:pt x="1549669" y="8178800"/>
                </a:lnTo>
                <a:close/>
              </a:path>
            </a:pathLst>
          </a:custGeom>
          <a:solidFill>
            <a:srgbClr val="FAF9F5"/>
          </a:solidFill>
          <a:ln>
            <a:solidFill>
              <a:srgbClr val="FAF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5706"/>
            <a:ext cx="120855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Актуальность, цель и задачи исследования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86170" y="1755696"/>
            <a:ext cx="6407944" cy="2791301"/>
          </a:xfrm>
          <a:prstGeom prst="roundRect">
            <a:avLst>
              <a:gd name="adj" fmla="val 41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19521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Актуальность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16794" y="2309634"/>
            <a:ext cx="5946696" cy="2058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ru-RU" sz="16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Рост </a:t>
            </a:r>
            <a:r>
              <a:rPr lang="ru-RU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количества веб-проектов требует ускорения процесса разработки программных решений.</a:t>
            </a:r>
            <a:br>
              <a:rPr lang="ru-RU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ru-RU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Использование генератора </a:t>
            </a:r>
            <a:r>
              <a:rPr lang="ru-RU" sz="16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fsgen</a:t>
            </a:r>
            <a:r>
              <a:rPr lang="ru-RU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позволяет автоматизировать создание </a:t>
            </a:r>
            <a:r>
              <a:rPr lang="ru-RU" sz="16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fullstack</a:t>
            </a:r>
            <a:r>
              <a:rPr lang="ru-RU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-приложений, сократить время разработки сайтов и снизить трудозатраты разработчиков в компании ООО «Про-Ресурс</a:t>
            </a:r>
            <a:r>
              <a:rPr lang="ru-RU" sz="1600" b="1" dirty="0"/>
              <a:t>»</a:t>
            </a:r>
            <a:r>
              <a:rPr lang="ru-RU" sz="1600" dirty="0"/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28548" y="1755697"/>
            <a:ext cx="6408063" cy="2791300"/>
          </a:xfrm>
          <a:prstGeom prst="roundRect">
            <a:avLst>
              <a:gd name="adj" fmla="val 410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19521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Цель работы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74729" y="2475964"/>
            <a:ext cx="5939195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ru-RU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Определить </a:t>
            </a:r>
            <a:r>
              <a:rPr lang="ru-RU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экономическую целесообразность разработки и внедрения системы </a:t>
            </a:r>
            <a:r>
              <a:rPr lang="ru-RU" sz="16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fsgen</a:t>
            </a:r>
            <a:r>
              <a:rPr lang="ru-RU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автоматизации создания </a:t>
            </a:r>
            <a:r>
              <a:rPr lang="ru-RU" sz="16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fullstack</a:t>
            </a:r>
            <a:r>
              <a:rPr lang="ru-RU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веб-приложений и ускорения разработки сайтов под заказ.</a:t>
            </a:r>
            <a:endParaRPr lang="en-US" sz="16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4708208"/>
            <a:ext cx="363116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Задачи исследования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93790" y="547366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3790" y="5828705"/>
            <a:ext cx="4196358" cy="30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3790" y="6003012"/>
            <a:ext cx="39952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Теоретическое обоснование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93790" y="6501169"/>
            <a:ext cx="4196358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ru-RU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Анализ </a:t>
            </a:r>
            <a:r>
              <a:rPr lang="ru-RU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принципов автоматизации разработки программных систем</a:t>
            </a:r>
            <a:r>
              <a:rPr lang="ru-RU" sz="1600" dirty="0"/>
              <a:t>.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216962" y="547366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16962" y="5828705"/>
            <a:ext cx="4196358" cy="30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16962" y="6003012"/>
            <a:ext cx="30312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Практический анализ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5216962" y="6501169"/>
            <a:ext cx="4329549" cy="108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ru-RU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Исследование </a:t>
            </a:r>
            <a:r>
              <a:rPr lang="ru-RU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возможностей применения генератора </a:t>
            </a:r>
            <a:r>
              <a:rPr lang="ru-RU" sz="175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fsgen</a:t>
            </a:r>
            <a:r>
              <a:rPr lang="ru-RU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автоматизации создания </a:t>
            </a:r>
            <a:r>
              <a:rPr lang="ru-RU" sz="175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fullstack</a:t>
            </a:r>
            <a:r>
              <a:rPr lang="ru-RU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-проектов</a:t>
            </a:r>
            <a:r>
              <a:rPr lang="ru-RU" sz="1600" dirty="0"/>
              <a:t>.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9640133" y="547366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40133" y="5828705"/>
            <a:ext cx="4196358" cy="30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40133" y="6003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Расчет показателей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9640132" y="6501169"/>
            <a:ext cx="4660067" cy="108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ru-RU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Расчет </a:t>
            </a:r>
            <a:r>
              <a:rPr lang="ru-RU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затрат на разработку системы и определение экономической эффективности её внедрения.</a:t>
            </a:r>
            <a:endParaRPr lang="en-US" sz="175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1637"/>
            <a:ext cx="1226879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Теоретические основы экономической эффективности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41396"/>
            <a:ext cx="434971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ru-RU" sz="2100" dirty="0" smtClean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Собственный </a:t>
            </a:r>
            <a:r>
              <a:rPr lang="ru-RU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капитал предприятия</a:t>
            </a:r>
            <a:endParaRPr lang="en-US" sz="2100" dirty="0">
              <a:solidFill>
                <a:srgbClr val="2E3C4E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126694"/>
            <a:ext cx="6300073" cy="979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Совокупность производственных материально-вещественных ценностей, действующих в процессе производства в течение длительного периода времени, сохраняющих натурально-вещественную форму и переносящих стоимость на продукцию по частям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3236952"/>
            <a:ext cx="6300073" cy="83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формируется за счет вкладов учредителей и </a:t>
            </a: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прибыли</a:t>
            </a:r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обеспечивает финансовую устойчивость </a:t>
            </a: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предприятия</a:t>
            </a:r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требует возврата и выплаты процентов</a:t>
            </a:r>
            <a:endParaRPr lang="en-US" sz="14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5154" y="4976594"/>
            <a:ext cx="829091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ru-RU" sz="2100" dirty="0" smtClean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Показатели </a:t>
            </a:r>
            <a:r>
              <a:rPr lang="ru-RU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эффективности использования капитала</a:t>
            </a:r>
            <a:endParaRPr lang="en-US" sz="2100" dirty="0">
              <a:solidFill>
                <a:srgbClr val="2E3C4E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428869" y="550687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ru-RU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Коэффициент финансовой независимости</a:t>
            </a:r>
            <a:endParaRPr lang="en-US" sz="1750" dirty="0">
              <a:solidFill>
                <a:srgbClr val="384653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428869" y="5877401"/>
            <a:ext cx="5795605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00"/>
              </a:lnSpc>
            </a:pPr>
            <a:r>
              <a:rPr lang="ru-RU" sz="14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Доля </a:t>
            </a: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собственного капитала в общей структуре финансирования</a:t>
            </a:r>
            <a:r>
              <a:rPr lang="ru-RU" sz="1400" dirty="0" smtClean="0"/>
              <a:t>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041005" y="550687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ru-RU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Финансовый рычаг</a:t>
            </a:r>
            <a:endParaRPr lang="en-US" sz="1750" dirty="0">
              <a:solidFill>
                <a:srgbClr val="384653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041005" y="5877401"/>
            <a:ext cx="5795605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Показатель использования заемных средств для увеличения прибыли.</a:t>
            </a:r>
            <a:endParaRPr lang="en-US" sz="14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428869" y="6657499"/>
            <a:ext cx="313336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ru-RU" sz="17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Оборачиваемость капитала</a:t>
            </a:r>
            <a:endParaRPr lang="en-US" sz="1750" dirty="0">
              <a:solidFill>
                <a:srgbClr val="384653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428869" y="7028021"/>
            <a:ext cx="5795605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Скорость использования финансовых ресурсов в деятельности предприятия.</a:t>
            </a:r>
            <a:endParaRPr lang="en-US" sz="14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8041005" y="665749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 err="1" smtClean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Рентабельность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8041005" y="7028021"/>
            <a:ext cx="5795605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ru-RU" sz="14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Отношение </a:t>
            </a: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прибыли предприятия к величине вложенного капитала.</a:t>
            </a:r>
            <a:endParaRPr lang="en-US" sz="14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24473" y="6569544"/>
            <a:ext cx="635081" cy="635081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24473" y="5523545"/>
            <a:ext cx="635081" cy="635081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5"/>
          <a:stretch/>
        </p:blipFill>
        <p:spPr>
          <a:xfrm rot="10800000" flipV="1">
            <a:off x="655156" y="6569544"/>
            <a:ext cx="635079" cy="635079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55154" y="5523544"/>
            <a:ext cx="635081" cy="635081"/>
          </a:xfrm>
          <a:prstGeom prst="rect">
            <a:avLst/>
          </a:prstGeom>
        </p:spPr>
      </p:pic>
      <p:sp>
        <p:nvSpPr>
          <p:cNvPr id="25" name="Text 1"/>
          <p:cNvSpPr/>
          <p:nvPr/>
        </p:nvSpPr>
        <p:spPr>
          <a:xfrm>
            <a:off x="7536537" y="1641396"/>
            <a:ext cx="434971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ru-RU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Заемный </a:t>
            </a:r>
            <a:r>
              <a:rPr lang="ru-RU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капитал предприятия</a:t>
            </a:r>
            <a:endParaRPr lang="en-US" sz="2100" dirty="0">
              <a:solidFill>
                <a:srgbClr val="2E3C4E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</p:txBody>
      </p:sp>
      <p:sp>
        <p:nvSpPr>
          <p:cNvPr id="29" name="Text 2"/>
          <p:cNvSpPr/>
          <p:nvPr/>
        </p:nvSpPr>
        <p:spPr>
          <a:xfrm>
            <a:off x="7536537" y="2126694"/>
            <a:ext cx="6300073" cy="979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0"/>
              </a:lnSpc>
            </a:pP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финансовые средства, привлекаемые предприятием из внешних источников на условиях возвратности, срочности и платности для финансирования своей деятельности.</a:t>
            </a:r>
            <a:endParaRPr lang="en-US" sz="14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30" name="Text 3"/>
          <p:cNvSpPr/>
          <p:nvPr/>
        </p:nvSpPr>
        <p:spPr>
          <a:xfrm>
            <a:off x="7536537" y="3236952"/>
            <a:ext cx="6585863" cy="100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предоставляется банками, инвесторами или другими </a:t>
            </a: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организациями</a:t>
            </a:r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позволяет привлекать дополнительные ресурсы для развития </a:t>
            </a: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компании</a:t>
            </a:r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требует </a:t>
            </a: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возврата в установленный </a:t>
            </a: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срок</a:t>
            </a:r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предполагает выплату процентов за использование</a:t>
            </a:r>
            <a:endParaRPr lang="en-US" sz="14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1277"/>
            <a:ext cx="9642991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Предметная область: ООО «Про-Ресурс»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359218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 компании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93790" y="1966436"/>
            <a:ext cx="13042821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ООО «Про-Ресурс» — </a:t>
            </a: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компания, занимающаяся разработкой программного обеспечения и информационных </a:t>
            </a:r>
            <a:r>
              <a:rPr lang="ru-RU" sz="14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систем. Одним </a:t>
            </a:r>
            <a:r>
              <a:rPr lang="ru-RU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 направлений деятельности является автоматизация процессов разработки веб-приложений и создание инструментов для ускорения разработки программных продуктов.</a:t>
            </a:r>
            <a:endParaRPr lang="en-US" sz="14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2685574"/>
            <a:ext cx="6439495" cy="2072164"/>
          </a:xfrm>
          <a:prstGeom prst="roundRect">
            <a:avLst>
              <a:gd name="adj" fmla="val 3908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9412" y="2901196"/>
            <a:ext cx="454092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Основные направления деятельности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14400" y="3300651"/>
            <a:ext cx="6267093" cy="124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веб-приложений и информационных </a:t>
            </a: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</a:t>
            </a: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клиент-серверных </a:t>
            </a: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приложений</a:t>
            </a: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автоматизация процессов разработки программного </a:t>
            </a: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обеспечения</a:t>
            </a: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внедрение внутренних инструментов для ускорения разработки</a:t>
            </a:r>
            <a:endParaRPr lang="en-US" sz="15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97115" y="2685574"/>
            <a:ext cx="6439495" cy="2072164"/>
          </a:xfrm>
          <a:prstGeom prst="roundRect">
            <a:avLst>
              <a:gd name="adj" fmla="val 3908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12737" y="2901196"/>
            <a:ext cx="314456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Применяемые технологии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2737" y="3300651"/>
            <a:ext cx="6008251" cy="124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5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Fullstack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</a:t>
            </a: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</a:t>
            </a: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веб-приложений</a:t>
            </a: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генерация структуры проектов (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CLI-</a:t>
            </a: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инструменты</a:t>
            </a: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</a:t>
            </a:r>
            <a:endParaRPr lang="ru-RU" sz="15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современные 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frontend-</a:t>
            </a:r>
            <a:r>
              <a:rPr lang="ru-RU" sz="15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фреймворки</a:t>
            </a:r>
            <a:endParaRPr lang="en-US" sz="15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5003483"/>
            <a:ext cx="470808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Конкурентные аналоги на рынке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93790" y="5774531"/>
            <a:ext cx="276046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Иностранные решения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93790" y="6239589"/>
            <a:ext cx="6286262" cy="124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React 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</a:t>
            </a:r>
            <a:endParaRPr lang="ru-RU" sz="15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5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NestJS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</a:t>
            </a:r>
            <a:endParaRPr lang="ru-RU" sz="15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5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Vite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templates</a:t>
            </a:r>
            <a:endParaRPr lang="ru-RU" sz="15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57968" y="5774531"/>
            <a:ext cx="311669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Дополнительные системы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557968" y="6239589"/>
            <a:ext cx="6286262" cy="124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генераторы </a:t>
            </a: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CRUD-</a:t>
            </a: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структур</a:t>
            </a: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шаблоны архитектуры </a:t>
            </a: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приложений</a:t>
            </a: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ru-RU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инструменты автоматизации </a:t>
            </a:r>
            <a:r>
              <a:rPr lang="ru-RU" sz="15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разработки</a:t>
            </a:r>
            <a:endParaRPr lang="ru-RU" sz="15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0131"/>
            <a:ext cx="1202495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Перечень работ по стадиям проектирования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2132886"/>
            <a:ext cx="13042821" cy="5046464"/>
          </a:xfrm>
          <a:prstGeom prst="roundRect">
            <a:avLst>
              <a:gd name="adj" fmla="val 179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140506"/>
            <a:ext cx="13027581" cy="8910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7032" y="2270879"/>
            <a:ext cx="282225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Наименование этапа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277678" y="2270879"/>
            <a:ext cx="2818448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Продолжительность (чел·ч)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34513" y="2270879"/>
            <a:ext cx="281844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Удельный вес, %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791349" y="2270879"/>
            <a:ext cx="282225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Исполнители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1410" y="3031569"/>
            <a:ext cx="13027581" cy="8910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17032" y="3161943"/>
            <a:ext cx="2822258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Проектирование информационной системы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277678" y="3161943"/>
            <a:ext cx="281844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650" dirty="0" smtClean="0">
                <a:solidFill>
                  <a:srgbClr val="384653"/>
                </a:solidFill>
                <a:ea typeface="Roboto" pitchFamily="34" charset="-122"/>
              </a:rPr>
              <a:t>40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534513" y="3161943"/>
            <a:ext cx="281844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650" dirty="0" smtClean="0">
                <a:solidFill>
                  <a:srgbClr val="384653"/>
                </a:solidFill>
                <a:ea typeface="Roboto" pitchFamily="34" charset="-122"/>
              </a:rPr>
              <a:t>16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791349" y="3161943"/>
            <a:ext cx="2822258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Руководитель, Программист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01410" y="3922633"/>
            <a:ext cx="13027581" cy="8910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17032" y="4053007"/>
            <a:ext cx="2822258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информационной системы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277678" y="4053007"/>
            <a:ext cx="281844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650" dirty="0" smtClean="0">
                <a:solidFill>
                  <a:srgbClr val="384653"/>
                </a:solidFill>
                <a:ea typeface="Roboto" pitchFamily="34" charset="-122"/>
              </a:rPr>
              <a:t>140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534513" y="4053007"/>
            <a:ext cx="281844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r>
              <a:rPr lang="ru-RU" sz="16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791349" y="4053007"/>
            <a:ext cx="282225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Программист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01410" y="4813697"/>
            <a:ext cx="13027581" cy="8910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17032" y="4944070"/>
            <a:ext cx="2822258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Тестирование информационной системы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277678" y="4944070"/>
            <a:ext cx="281844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650" dirty="0" smtClean="0">
                <a:solidFill>
                  <a:srgbClr val="384653"/>
                </a:solidFill>
                <a:ea typeface="Roboto" pitchFamily="34" charset="-122"/>
              </a:rPr>
              <a:t>50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534513" y="4944070"/>
            <a:ext cx="281844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650" dirty="0" smtClean="0">
                <a:solidFill>
                  <a:srgbClr val="384653"/>
                </a:solidFill>
                <a:ea typeface="Roboto" pitchFamily="34" charset="-122"/>
              </a:rPr>
              <a:t>20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791349" y="4944070"/>
            <a:ext cx="282225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Программист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01410" y="5704761"/>
            <a:ext cx="13027581" cy="575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17032" y="5835134"/>
            <a:ext cx="282225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Оформление документов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4277678" y="5835134"/>
            <a:ext cx="281844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r>
              <a:rPr lang="en-US" sz="16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534513" y="5835134"/>
            <a:ext cx="281844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650" dirty="0">
                <a:solidFill>
                  <a:srgbClr val="384653"/>
                </a:solidFill>
                <a:ea typeface="Roboto" pitchFamily="34" charset="-122"/>
              </a:rPr>
              <a:t>8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791349" y="5835134"/>
            <a:ext cx="282225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Программист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801410" y="6280666"/>
            <a:ext cx="13027581" cy="8910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17032" y="6411039"/>
            <a:ext cx="282225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Итого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4277678" y="6411039"/>
            <a:ext cx="281844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650" b="1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</a:t>
            </a:r>
            <a:r>
              <a:rPr lang="en-US" sz="1650" b="1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534513" y="6411039"/>
            <a:ext cx="281844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791349" y="6411039"/>
            <a:ext cx="2822258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руководитель, 4 программиста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9285"/>
            <a:ext cx="1065930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Структура постоянных и переменных издержек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574244"/>
            <a:ext cx="301883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Постоянные издержки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93790" y="2132052"/>
            <a:ext cx="13042821" cy="1752124"/>
          </a:xfrm>
          <a:prstGeom prst="roundRect">
            <a:avLst>
              <a:gd name="adj" fmla="val 435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139672"/>
            <a:ext cx="13026271" cy="4342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4290" y="2234327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Вид постоянных издержек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29714" y="2234327"/>
            <a:ext cx="397109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Затраты, руб.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71328" y="2234327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Удельный вес, 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1410" y="2573893"/>
            <a:ext cx="13026271" cy="4342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84290" y="2668548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Амортизационные отчисления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29714" y="2668548"/>
            <a:ext cx="397109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400" dirty="0" smtClean="0">
                <a:solidFill>
                  <a:srgbClr val="384653"/>
                </a:solidFill>
                <a:ea typeface="Roboto" pitchFamily="34" charset="-122"/>
              </a:rPr>
              <a:t>2245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71328" y="2668548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1410" y="3008114"/>
            <a:ext cx="13026271" cy="4342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84290" y="3102769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Текущий ремонт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29714" y="3102769"/>
            <a:ext cx="397109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400" dirty="0" smtClean="0">
                <a:solidFill>
                  <a:srgbClr val="384653"/>
                </a:solidFill>
                <a:ea typeface="Roboto" pitchFamily="34" charset="-122"/>
              </a:rPr>
              <a:t>561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71328" y="3102769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410" y="3442335"/>
            <a:ext cx="13026271" cy="4342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84290" y="3536990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Итого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29714" y="3536990"/>
            <a:ext cx="397109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400" dirty="0" smtClean="0"/>
              <a:t>2806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71328" y="3536990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3790" y="4101822"/>
            <a:ext cx="310681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Переменные издержки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793790" y="4659630"/>
            <a:ext cx="13042821" cy="2620566"/>
          </a:xfrm>
          <a:prstGeom prst="roundRect">
            <a:avLst>
              <a:gd name="adj" fmla="val 290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410" y="4667250"/>
            <a:ext cx="13026271" cy="4342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84290" y="4761905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Вид переменных издержек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29714" y="4761905"/>
            <a:ext cx="397109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Величина, руб.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71328" y="4761905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Удельный вес, 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1410" y="5101471"/>
            <a:ext cx="13026271" cy="4342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84290" y="5196126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Материальные затраты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29714" y="5196126"/>
            <a:ext cx="397109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400" dirty="0" smtClean="0">
                <a:solidFill>
                  <a:srgbClr val="384653"/>
                </a:solidFill>
                <a:ea typeface="Roboto" pitchFamily="34" charset="-122"/>
              </a:rPr>
              <a:t>2358</a:t>
            </a:r>
            <a:r>
              <a:rPr lang="en-US" sz="1400" dirty="0" smtClean="0">
                <a:solidFill>
                  <a:srgbClr val="384653"/>
                </a:solidFill>
                <a:ea typeface="Roboto" pitchFamily="34" charset="-122"/>
              </a:rPr>
              <a:t>,24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71328" y="5196126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1,09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1410" y="5535692"/>
            <a:ext cx="13026271" cy="4342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84290" y="5630347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Затраты на оплату труда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29714" y="5630347"/>
            <a:ext cx="397109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164490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71328" y="5630347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73,01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1410" y="5969913"/>
            <a:ext cx="13026271" cy="4342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84290" y="6064568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Отчисления по налогам, ФСС 30%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29714" y="6064568"/>
            <a:ext cx="397109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47731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71328" y="6064568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22,04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01410" y="6404134"/>
            <a:ext cx="13026271" cy="4342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84290" y="6498788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Накладные расходы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29714" y="6498788"/>
            <a:ext cx="397109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19738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71328" y="6498788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3,88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01410" y="6838355"/>
            <a:ext cx="13026271" cy="4342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84290" y="6933009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Итого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29714" y="6933009"/>
            <a:ext cx="397109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155 545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671328" y="6933009"/>
            <a:ext cx="397490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2832"/>
            <a:ext cx="90756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Расчет фонда заработной платы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15239"/>
            <a:ext cx="13042821" cy="2865715"/>
          </a:xfrm>
          <a:prstGeom prst="roundRect">
            <a:avLst>
              <a:gd name="adj" fmla="val 332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922859"/>
            <a:ext cx="13030081" cy="9677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819" y="2066568"/>
            <a:ext cx="171414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Должность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204210" y="2066568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ЗП осн., руб.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75791" y="2066568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ЗП доп., руб.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7372" y="2066568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Фонд ЗП, руб.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718953" y="2066568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ФСС, руб.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890534" y="2066568"/>
            <a:ext cx="171414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Удельный вес, %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2890599"/>
            <a:ext cx="13030081" cy="6275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819" y="3034308"/>
            <a:ext cx="171414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Программист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204210" y="3034308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75 600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791" y="3034308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7372" y="3034308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86 940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718953" y="3034308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311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1890534" y="3034308"/>
            <a:ext cx="171414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50,94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801410" y="3518178"/>
            <a:ext cx="13030081" cy="6275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28819" y="3661886"/>
            <a:ext cx="171414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Куратор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3204210" y="3661886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70 500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5375791" y="3661886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7050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7372" y="3661886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77 550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8953" y="3661886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420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1890534" y="3661886"/>
            <a:ext cx="171414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49,06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4145756"/>
            <a:ext cx="13030081" cy="6275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8819" y="4289465"/>
            <a:ext cx="171414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Итого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3204210" y="4289465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</a:rPr>
              <a:t>140 500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5375791" y="4289465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r>
              <a:rPr lang="en-US" sz="1750" b="1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550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547372" y="4289465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164 490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9718953" y="4289465"/>
            <a:ext cx="171033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</a:t>
            </a:r>
            <a:r>
              <a:rPr lang="en-US" sz="1750" b="1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731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11890534" y="4289465"/>
            <a:ext cx="171414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100,0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93790" y="5262920"/>
            <a:ext cx="39138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Основная заработная плата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93790" y="5844064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Часовая тарифная ставка: 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270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руб./ч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793790" y="6388298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Трудоемкость: 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250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793790" y="6932533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Зо = 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250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× 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270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= </a:t>
            </a:r>
            <a:r>
              <a:rPr lang="ru-RU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75600</a:t>
            </a:r>
            <a:r>
              <a:rPr lang="ru-RU" dirty="0"/>
              <a:t> 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руб.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7599521" y="5262920"/>
            <a:ext cx="48991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Дополнительная заработная плата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599521" y="5844064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Норматив: 9%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7599521" y="6388298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Зд = </a:t>
            </a:r>
            <a:r>
              <a:rPr lang="ru-RU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75600 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×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0,09 =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6 804 </a:t>
            </a:r>
            <a:r>
              <a:rPr lang="en-US" sz="175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руб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8203"/>
            <a:ext cx="77922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Расчет накладных расходов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20610"/>
            <a:ext cx="4196358" cy="2379821"/>
          </a:xfrm>
          <a:prstGeom prst="roundRect">
            <a:avLst>
              <a:gd name="adj" fmla="val 6148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3310" y="2020610"/>
            <a:ext cx="121920" cy="23798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277904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Норматив накладных расходов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3122652"/>
            <a:ext cx="3590330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12% от суммы основной и дополнительной заработной платы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2020610"/>
            <a:ext cx="4196358" cy="2379821"/>
          </a:xfrm>
          <a:prstGeom prst="roundRect">
            <a:avLst>
              <a:gd name="adj" fmla="val 6148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86482" y="2020610"/>
            <a:ext cx="121920" cy="23798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5696" y="22779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Формула расчета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65696" y="2768322"/>
            <a:ext cx="359033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Рн = (Фонд ЗП основной + Фонд ЗП дополнительный) × Норматив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2020610"/>
            <a:ext cx="4196358" cy="2379821"/>
          </a:xfrm>
          <a:prstGeom prst="roundRect">
            <a:avLst>
              <a:gd name="adj" fmla="val 6148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09653" y="2020610"/>
            <a:ext cx="121920" cy="23798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8868" y="22779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Расчет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88868" y="2768322"/>
            <a:ext cx="3590330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Рн =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164 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490</a:t>
            </a:r>
            <a:r>
              <a:rPr lang="ru-RU" sz="1750" dirty="0" smtClean="0"/>
              <a:t> 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×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0,12 =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19 738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руб.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4740593"/>
            <a:ext cx="468713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Состав накладных расходов</a:t>
            </a:r>
            <a:endParaRPr lang="en-US" sz="26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3790" y="5626537"/>
            <a:ext cx="113348" cy="1133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33951" y="5506045"/>
            <a:ext cx="33248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Расходы на управление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133951" y="6356807"/>
            <a:ext cx="4083011" cy="132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fontAlgn="base">
              <a:lnSpc>
                <a:spcPts val="265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заработная плата управленческого </a:t>
            </a:r>
            <a:r>
              <a:rPr lang="ru-RU" altLang="ru-RU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персонала</a:t>
            </a:r>
            <a:r>
              <a:rPr lang="en-US" altLang="ru-RU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ru-RU" altLang="ru-RU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расходы </a:t>
            </a:r>
            <a:r>
              <a:rPr lang="ru-RU" altLang="ru-RU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управления </a:t>
            </a:r>
            <a:r>
              <a:rPr lang="ru-RU" altLang="ru-RU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проектом административные </a:t>
            </a:r>
            <a:r>
              <a:rPr lang="ru-RU" altLang="ru-RU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расходы предприятия</a:t>
            </a: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35893" y="5626537"/>
            <a:ext cx="113348" cy="1133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604391" y="5506045"/>
            <a:ext cx="38184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Хозяйственное обслуживание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5576054" y="6350794"/>
            <a:ext cx="3818453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Содержание и ремонт зданий, сооружений, оборудования и инвентаря</a:t>
            </a:r>
            <a:endParaRPr lang="en-US" sz="17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677995" y="5626537"/>
            <a:ext cx="113348" cy="11334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018157" y="5506045"/>
            <a:ext cx="36629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Дополнительные расходы</a:t>
            </a:r>
            <a:endParaRPr lang="en-US" sz="2200" dirty="0"/>
          </a:p>
        </p:txBody>
      </p:sp>
      <p:sp>
        <p:nvSpPr>
          <p:cNvPr id="24" name="Text 16"/>
          <p:cNvSpPr/>
          <p:nvPr/>
        </p:nvSpPr>
        <p:spPr>
          <a:xfrm>
            <a:off x="10018157" y="6356807"/>
            <a:ext cx="3818453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fontAlgn="base">
              <a:lnSpc>
                <a:spcPts val="265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амортизационные отчисления на </a:t>
            </a:r>
            <a:r>
              <a:rPr lang="ru-RU" altLang="ru-RU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оборудование</a:t>
            </a:r>
            <a:r>
              <a:rPr lang="en-US" altLang="ru-RU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ru-RU" altLang="ru-RU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расходы </a:t>
            </a:r>
            <a:r>
              <a:rPr lang="ru-RU" altLang="ru-RU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 интернет и программное </a:t>
            </a:r>
            <a:r>
              <a:rPr lang="ru-RU" altLang="ru-RU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обеспечение</a:t>
            </a:r>
            <a:endParaRPr lang="ru-RU" altLang="ru-RU" sz="175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526" y="615553"/>
            <a:ext cx="9955768" cy="55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Структура полных издержек и себестоимости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6526" y="1669775"/>
            <a:ext cx="12923456" cy="554639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82616" y="2807653"/>
            <a:ext cx="3427501" cy="456885"/>
          </a:xfrm>
          <a:prstGeom prst="roundRect">
            <a:avLst>
              <a:gd name="adj" fmla="val 5603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326823" y="2902982"/>
            <a:ext cx="266227" cy="26622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31544" y="2863117"/>
            <a:ext cx="4066204" cy="345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 err="1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Материальные</a:t>
            </a:r>
            <a:r>
              <a:rPr lang="en-US" sz="1400" dirty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 </a:t>
            </a:r>
            <a:r>
              <a:rPr lang="en-US" sz="1400" dirty="0" err="1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затраты</a:t>
            </a:r>
            <a:r>
              <a:rPr lang="ru-RU" sz="14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 </a:t>
            </a:r>
            <a:r>
              <a:rPr lang="en-US" sz="14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1.08%</a:t>
            </a:r>
            <a:endParaRPr lang="en-US" sz="1400" dirty="0">
              <a:latin typeface="Roboto" panose="020B0604020202020204" charset="0"/>
              <a:ea typeface="Roboto" panose="020B06040202020202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944114" y="2863117"/>
            <a:ext cx="75396" cy="345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182616" y="3353280"/>
            <a:ext cx="3549678" cy="456884"/>
          </a:xfrm>
          <a:prstGeom prst="roundRect">
            <a:avLst>
              <a:gd name="adj" fmla="val 5603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326823" y="3448609"/>
            <a:ext cx="266227" cy="2662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31544" y="3408744"/>
            <a:ext cx="4303139" cy="345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Затраты на </a:t>
            </a:r>
            <a:r>
              <a:rPr lang="en-US" sz="1400" dirty="0" err="1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оплату</a:t>
            </a:r>
            <a:r>
              <a:rPr lang="en-US" sz="1400" dirty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 </a:t>
            </a:r>
            <a:r>
              <a:rPr lang="en-US" sz="1400" dirty="0" err="1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труда</a:t>
            </a:r>
            <a:r>
              <a:rPr lang="ru-RU" sz="14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 </a:t>
            </a:r>
            <a:r>
              <a:rPr lang="en-US" sz="14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72,26%</a:t>
            </a:r>
            <a:endParaRPr lang="en-US" sz="1400" dirty="0">
              <a:latin typeface="Roboto" panose="020B0604020202020204" charset="0"/>
              <a:ea typeface="Roboto" panose="020B060402020202020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82616" y="3898907"/>
            <a:ext cx="3427501" cy="456884"/>
          </a:xfrm>
          <a:prstGeom prst="roundRect">
            <a:avLst>
              <a:gd name="adj" fmla="val 5603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326823" y="3994236"/>
            <a:ext cx="266227" cy="2662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31544" y="3954372"/>
            <a:ext cx="4152867" cy="345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Отчисления </a:t>
            </a:r>
            <a:r>
              <a:rPr lang="en-US" sz="1400" dirty="0" err="1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по</a:t>
            </a:r>
            <a:r>
              <a:rPr lang="en-US" sz="1400" dirty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 </a:t>
            </a:r>
            <a:r>
              <a:rPr lang="en-US" sz="1400" dirty="0" err="1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налогам</a:t>
            </a:r>
            <a:r>
              <a:rPr lang="ru-RU" sz="14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 </a:t>
            </a:r>
            <a:r>
              <a:rPr lang="en-US" sz="14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21,83%</a:t>
            </a:r>
            <a:endParaRPr lang="en-US" sz="1400" dirty="0">
              <a:latin typeface="Roboto" panose="020B0604020202020204" charset="0"/>
              <a:ea typeface="Roboto" panose="020B0604020202020204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7182617" y="4444534"/>
            <a:ext cx="3852494" cy="456885"/>
          </a:xfrm>
          <a:prstGeom prst="roundRect">
            <a:avLst>
              <a:gd name="adj" fmla="val 5603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326823" y="4539863"/>
            <a:ext cx="266227" cy="26622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831544" y="4499998"/>
            <a:ext cx="4896604" cy="345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 err="1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Амортизационные</a:t>
            </a:r>
            <a:r>
              <a:rPr lang="en-US" sz="1400" dirty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 </a:t>
            </a:r>
            <a:r>
              <a:rPr lang="en-US" sz="1400" dirty="0" err="1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отчисления</a:t>
            </a:r>
            <a:r>
              <a:rPr lang="ru-RU" sz="14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 </a:t>
            </a:r>
            <a:r>
              <a:rPr lang="en-US" sz="14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0.81%</a:t>
            </a:r>
            <a:endParaRPr lang="en-US" sz="1400" dirty="0">
              <a:latin typeface="Roboto" panose="020B0604020202020204" charset="0"/>
              <a:ea typeface="Roboto" panose="020B0604020202020204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1822352" y="4499998"/>
            <a:ext cx="75396" cy="345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182616" y="4990161"/>
            <a:ext cx="3146717" cy="456885"/>
          </a:xfrm>
          <a:prstGeom prst="roundRect">
            <a:avLst>
              <a:gd name="adj" fmla="val 5603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326823" y="5085490"/>
            <a:ext cx="266227" cy="26622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831544" y="5045625"/>
            <a:ext cx="3111184" cy="345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 err="1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Текущий</a:t>
            </a:r>
            <a:r>
              <a:rPr lang="en-US" sz="1400" dirty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 </a:t>
            </a:r>
            <a:r>
              <a:rPr lang="en-US" sz="1400" dirty="0" err="1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ремонт</a:t>
            </a:r>
            <a:r>
              <a:rPr lang="ru-RU" sz="14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 </a:t>
            </a:r>
            <a:r>
              <a:rPr lang="en-US" sz="14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0.20%</a:t>
            </a:r>
            <a:endParaRPr lang="en-US" sz="1400" dirty="0">
              <a:latin typeface="Roboto" panose="020B0604020202020204" charset="0"/>
              <a:ea typeface="Roboto" panose="020B0604020202020204" charset="0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7182616" y="5535788"/>
            <a:ext cx="3146717" cy="456885"/>
          </a:xfrm>
          <a:prstGeom prst="roundRect">
            <a:avLst>
              <a:gd name="adj" fmla="val 5603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7326823" y="5631117"/>
            <a:ext cx="266227" cy="26622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831544" y="5591252"/>
            <a:ext cx="3608973" cy="345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 err="1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Накладные</a:t>
            </a:r>
            <a:r>
              <a:rPr lang="en-US" sz="1400" dirty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 </a:t>
            </a:r>
            <a:r>
              <a:rPr lang="en-US" sz="1400" dirty="0" err="1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расходы</a:t>
            </a:r>
            <a:r>
              <a:rPr lang="ru-RU" sz="14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 </a:t>
            </a:r>
            <a:r>
              <a:rPr lang="en-US" sz="14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3,84</a:t>
            </a:r>
            <a:r>
              <a:rPr lang="en-US" sz="14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  <a:cs typeface="-apple-system, BlinkMacSystemFont, Segoe UI, Roboto, Helvetica Neue, Arial, sans-serif Medium" pitchFamily="34" charset="-120"/>
              </a:rPr>
              <a:t>%</a:t>
            </a:r>
            <a:endParaRPr lang="en-US" sz="1400" dirty="0">
              <a:latin typeface="Roboto" panose="020B0604020202020204" charset="0"/>
              <a:ea typeface="Roboto" panose="020B0604020202020204" charset="0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10534721" y="5591252"/>
            <a:ext cx="75396" cy="345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776526" y="7376636"/>
            <a:ext cx="13077349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Диаграмма показывает процентное распределение затрат по основным статьям (значения в скобках — удельный вес от общей </a:t>
            </a:r>
            <a:r>
              <a:rPr lang="en-US" sz="135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суммы</a:t>
            </a: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3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236 527,24</a:t>
            </a:r>
            <a:r>
              <a:rPr lang="en-US" sz="13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руб</a:t>
            </a: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.).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9854"/>
            <a:ext cx="1098851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Формула расчета прибыли и выводы об эффективности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280398"/>
            <a:ext cx="315908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Формула расчета прибыли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93790" y="1744742"/>
            <a:ext cx="13042821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3790" y="1744742"/>
            <a:ext cx="13042821" cy="2745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2159913"/>
            <a:ext cx="1304282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где: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3790" y="2487335"/>
            <a:ext cx="13042821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 — прибыль от внедрения автоматизированной системы</a:t>
            </a:r>
            <a:endParaRPr lang="en-US" sz="1250" dirty="0"/>
          </a:p>
          <a:p>
            <a:pPr marL="342900" indent="-342900">
              <a:lnSpc>
                <a:spcPts val="155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 — себестоимость </a:t>
            </a:r>
            <a:r>
              <a:rPr lang="en-US" sz="125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разработки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</a:t>
            </a:r>
            <a:r>
              <a:rPr lang="ru-RU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236 </a:t>
            </a:r>
            <a:r>
              <a:rPr lang="ru-RU" sz="12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527,24 </a:t>
            </a:r>
            <a:r>
              <a:rPr lang="en-US" sz="12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руб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.)</a:t>
            </a:r>
            <a:endParaRPr lang="en-US" sz="12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R_p — уровень рентабельности (10%)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3790" y="3297198"/>
            <a:ext cx="1304282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Прибыль: P = </a:t>
            </a:r>
            <a:r>
              <a:rPr lang="ru-RU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236 527,24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× 0,1 = </a:t>
            </a:r>
            <a:r>
              <a:rPr lang="ru-RU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23 652,72 </a:t>
            </a:r>
            <a:r>
              <a:rPr lang="en-US" sz="1250" dirty="0" err="1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руб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3790" y="3670718"/>
            <a:ext cx="1304282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25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Цена</a:t>
            </a: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2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Системы</a:t>
            </a:r>
            <a:r>
              <a:rPr lang="en-US" sz="12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ru-RU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(236 527,24 + 23 652,72) × 1,22 = 317 419,55 руб.</a:t>
            </a:r>
            <a:endParaRPr lang="en-US" sz="125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93790" y="4321135"/>
            <a:ext cx="509944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Показатели экономической эффективности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359218" y="4851956"/>
            <a:ext cx="2209562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100"/>
              </a:lnSpc>
            </a:pPr>
            <a:r>
              <a:rPr lang="ru-RU" sz="4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236 527 </a:t>
            </a:r>
            <a:r>
              <a:rPr lang="ru-RU" sz="4100" dirty="0" err="1" smtClean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руб</a:t>
            </a:r>
            <a:r>
              <a:rPr lang="en-US" sz="4100" dirty="0" smtClean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.</a:t>
            </a:r>
            <a:endParaRPr lang="en-US" sz="4100" dirty="0">
              <a:solidFill>
                <a:srgbClr val="384653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47631" y="5551289"/>
            <a:ext cx="264890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Себестоимость разработки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93790" y="5865971"/>
            <a:ext cx="315658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руб.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62713" y="4864775"/>
            <a:ext cx="2209562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100"/>
              </a:lnSpc>
            </a:pPr>
            <a:r>
              <a:rPr lang="ru-RU" sz="4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270 000</a:t>
            </a:r>
            <a:endParaRPr lang="en-US" sz="4100" dirty="0">
              <a:solidFill>
                <a:srgbClr val="384653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41113" y="5551289"/>
            <a:ext cx="305264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Экономическая эффективность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089202" y="5865971"/>
            <a:ext cx="315658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руб.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858125" y="4864775"/>
            <a:ext cx="2209562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 smtClean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1.23</a:t>
            </a:r>
            <a:endParaRPr lang="en-US" sz="4100" dirty="0"/>
          </a:p>
        </p:txBody>
      </p:sp>
      <p:sp>
        <p:nvSpPr>
          <p:cNvPr id="19" name="Text 16"/>
          <p:cNvSpPr/>
          <p:nvPr/>
        </p:nvSpPr>
        <p:spPr>
          <a:xfrm>
            <a:off x="7523917" y="5551289"/>
            <a:ext cx="287786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Коэффициент эффективности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384613" y="5865971"/>
            <a:ext cx="315658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больше единицы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153537" y="4864775"/>
            <a:ext cx="2209562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 smtClean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</a:rPr>
              <a:t>10</a:t>
            </a:r>
            <a:endParaRPr lang="en-US" sz="4100" dirty="0"/>
          </a:p>
        </p:txBody>
      </p:sp>
      <p:sp>
        <p:nvSpPr>
          <p:cNvPr id="22" name="Text 19"/>
          <p:cNvSpPr/>
          <p:nvPr/>
        </p:nvSpPr>
        <p:spPr>
          <a:xfrm>
            <a:off x="11265932" y="555128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Срок окупаемости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0680025" y="5865971"/>
            <a:ext cx="3156585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месяцев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93790" y="6193393"/>
            <a:ext cx="13042821" cy="1598750"/>
          </a:xfrm>
          <a:prstGeom prst="roundRect">
            <a:avLst>
              <a:gd name="adj" fmla="val 5144"/>
            </a:avLst>
          </a:prstGeom>
          <a:solidFill>
            <a:srgbClr val="C6E4EB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0" y="6361033"/>
            <a:ext cx="248007" cy="19835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359218" y="634412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Вывод</a:t>
            </a:r>
            <a:endParaRPr lang="en-US" sz="1550" dirty="0"/>
          </a:p>
        </p:txBody>
      </p:sp>
      <p:sp>
        <p:nvSpPr>
          <p:cNvPr id="27" name="Text 23"/>
          <p:cNvSpPr/>
          <p:nvPr/>
        </p:nvSpPr>
        <p:spPr>
          <a:xfrm>
            <a:off x="1359218" y="6703219"/>
            <a:ext cx="12318683" cy="93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250" dirty="0" smtClean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</a:t>
            </a:r>
            <a:r>
              <a:rPr lang="ru-RU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системы </a:t>
            </a:r>
            <a:r>
              <a:rPr lang="ru-RU" sz="125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fsgen</a:t>
            </a:r>
            <a:r>
              <a:rPr lang="ru-RU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автоматизации создания </a:t>
            </a:r>
            <a:r>
              <a:rPr lang="ru-RU" sz="125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fullstack</a:t>
            </a:r>
            <a:r>
              <a:rPr lang="ru-RU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-приложений в ООО «Про-Ресурс» является экономически целесообразной.</a:t>
            </a:r>
          </a:p>
          <a:p>
            <a:r>
              <a:rPr lang="ru-RU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Проведенные расчеты показали, что годовой экономический эффект составляет 270 000 рублей, а срок окупаемости проекта — около 10 месяцев. Коэффициент экономической эффективности 1,23, что превышает единицу и подтверждает рентабельность разработки.</a:t>
            </a:r>
          </a:p>
          <a:p>
            <a:r>
              <a:rPr lang="ru-RU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Внедрение системы позволит сократить время разработки веб-приложений, уменьшить трудозатраты разработчиков и повысить эффективность создания программных продуктов.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Pages>0</Pages>
  <Words>864</Words>
  <Characters>0</Characters>
  <Application>Microsoft Office PowerPoint</Application>
  <DocSecurity>0</DocSecurity>
  <PresentationFormat>Произвольный</PresentationFormat>
  <Lines>0</Lines>
  <Paragraphs>207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Roboto</vt:lpstr>
      <vt:lpstr>Calibri</vt:lpstr>
      <vt:lpstr>Host Grotesk Medium</vt:lpstr>
      <vt:lpstr>Arial</vt:lpstr>
      <vt:lpstr>Host Grotesk Light</vt:lpstr>
      <vt:lpstr>-apple-system, BlinkMacSystemFont, Segoe UI, Roboto, Helvetica Neue, Arial, sans-serif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CharactersWithSpaces>0</CharactersWithSpaces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Брагин Кирилл Федорович</dc:creator>
  <cp:keywords/>
  <dc:description/>
  <cp:lastModifiedBy>Сираев Рустам Ильнарович</cp:lastModifiedBy>
  <cp:revision>15</cp:revision>
  <dcterms:created xsi:type="dcterms:W3CDTF">2026-03-04T06:02:13Z</dcterms:created>
  <dcterms:modified xsi:type="dcterms:W3CDTF">2026-03-05T08:12:24Z</dcterms:modified>
  <cp:category/>
  <dc:identifier/>
  <cp:contentStatus/>
  <dc:language/>
  <cp:version/>
</cp:coreProperties>
</file>