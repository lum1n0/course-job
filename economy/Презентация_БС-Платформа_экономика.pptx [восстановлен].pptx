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35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2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Трудоемкость</c:v>
                </c:pt>
              </c:strCache>
            </c:strRef>
          </c:tx>
          <c:spPr>
            <a:solidFill>
              <a:srgbClr val="5E8ED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Проектирование</c:v>
                </c:pt>
                <c:pt idx="1">
                  <c:v>Разработка</c:v>
                </c:pt>
                <c:pt idx="2">
                  <c:v>Тестирование</c:v>
                </c:pt>
                <c:pt idx="3">
                  <c:v>Документы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140</c:v>
                </c:pt>
                <c:pt idx="2">
                  <c:v>50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E3-4D78-9C88-D885E817985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4"/>
        <c:crosses val="autoZero"/>
        <c:crossBetween val="between"/>
        <c:majorUnit val="20"/>
      </c:valAx>
      <c:spPr>
        <a:solidFill>
          <a:srgbClr val="F4F1E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Эффект, руб./год</c:v>
                </c:pt>
              </c:strCache>
            </c:strRef>
          </c:tx>
          <c:spPr>
            <a:solidFill>
              <a:srgbClr val="2BA0B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ч → 0,5 ч</c:v>
                </c:pt>
                <c:pt idx="1">
                  <c:v>3 ч → 0,5 ч</c:v>
                </c:pt>
                <c:pt idx="2">
                  <c:v>5 ч → 0,5 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32500</c:v>
                </c:pt>
                <c:pt idx="1">
                  <c:v>162500</c:v>
                </c:pt>
                <c:pt idx="2">
                  <c:v>292500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AC-4527-99B2-AD85DD2DD0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00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endParaRPr lang="ru-RU"/>
          </a:p>
        </c:txPr>
        <c:crossAx val="2094734554"/>
        <c:crosses val="autoZero"/>
        <c:crossBetween val="between"/>
        <c:majorUnit val="50000"/>
      </c:valAx>
      <c:spPr>
        <a:solidFill>
          <a:srgbClr val="F4F1E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Структура затрат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34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0C8-4A21-802A-5E4141AA9912}"/>
              </c:ext>
            </c:extLst>
          </c:dPt>
          <c:dPt>
            <c:idx val="1"/>
            <c:bubble3D val="0"/>
            <c:spPr>
              <a:solidFill>
                <a:srgbClr val="5E8E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0C8-4A21-802A-5E4141AA9912}"/>
              </c:ext>
            </c:extLst>
          </c:dPt>
          <c:dPt>
            <c:idx val="2"/>
            <c:bubble3D val="0"/>
            <c:spPr>
              <a:solidFill>
                <a:srgbClr val="9B59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0C8-4A21-802A-5E4141AA9912}"/>
              </c:ext>
            </c:extLst>
          </c:dPt>
          <c:dPt>
            <c:idx val="3"/>
            <c:bubble3D val="0"/>
            <c:spPr>
              <a:solidFill>
                <a:srgbClr val="2BA0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0C8-4A21-802A-5E4141AA9912}"/>
              </c:ext>
            </c:extLst>
          </c:dPt>
          <c:dPt>
            <c:idx val="4"/>
            <c:bubble3D val="0"/>
            <c:spPr>
              <a:solidFill>
                <a:srgbClr val="D865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0C8-4A21-802A-5E4141AA9912}"/>
              </c:ext>
            </c:extLst>
          </c:dPt>
          <c:dPt>
            <c:idx val="5"/>
            <c:bubble3D val="0"/>
            <c:spPr>
              <a:solidFill>
                <a:srgbClr val="3559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0C8-4A21-802A-5E4141AA9912}"/>
              </c:ext>
            </c:extLst>
          </c:dPt>
          <c:cat>
            <c:strRef>
              <c:f>Sheet1!$A$2:$A$7</c:f>
              <c:strCache>
                <c:ptCount val="6"/>
                <c:pt idx="0">
                  <c:v>Материальные</c:v>
                </c:pt>
                <c:pt idx="1">
                  <c:v>Оплата труда</c:v>
                </c:pt>
                <c:pt idx="2">
                  <c:v>Отчисления</c:v>
                </c:pt>
                <c:pt idx="3">
                  <c:v>Амортизация</c:v>
                </c:pt>
                <c:pt idx="4">
                  <c:v>Ремонт</c:v>
                </c:pt>
                <c:pt idx="5">
                  <c:v>Накладные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2358.2399999999998</c:v>
                </c:pt>
                <c:pt idx="1">
                  <c:v>115575</c:v>
                </c:pt>
                <c:pt idx="2">
                  <c:v>34672.5</c:v>
                </c:pt>
                <c:pt idx="3">
                  <c:v>2245</c:v>
                </c:pt>
                <c:pt idx="4">
                  <c:v>561</c:v>
                </c:pt>
                <c:pt idx="5">
                  <c:v>13869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0C8-4A21-802A-5E4141AA99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6"/>
      </c:doughnutChart>
      <c:spPr>
        <a:solidFill>
          <a:srgbClr val="F4F1EB"/>
        </a:solidFill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1200">
              <a:latin typeface="Aptos"/>
              <a:cs typeface="Aptos"/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F4F1E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896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presentation template; title illustration cropped from slide 1.
- User-provided course paper: /mnt/data/Гумаров_ИС-222б_экономика.docx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/mnt/data/Гумаров_ИС-222б_экономика.docx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sections 1–2.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3.1, table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tables 3,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3.2, table 6; consultation updates for hourly rate and curator salary.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section 3.3 and supervisor consultation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tables 8–9 and formulas (7), (9).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User-provided course paper: conclusion and section 3.3.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2651760" y="822960"/>
            <a:ext cx="0" cy="521208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28160" y="822960"/>
            <a:ext cx="7660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ru-RU" sz="2400" i="1" dirty="0">
                <a:solidFill>
                  <a:srgbClr val="43505B"/>
                </a:solidFill>
                <a:latin typeface="Aptos "/>
                <a:ea typeface="Roboto" panose="020B0604020202020204"/>
              </a:rPr>
              <a:t>Расчет экономической эффективности проектирования и разработки серверной части системы управления корпоративной базой знаний с интеллектуальным поиском с помощью чат-бота </a:t>
            </a:r>
            <a:endParaRPr lang="ru-RU" sz="2400" i="1" dirty="0" smtClean="0">
              <a:solidFill>
                <a:srgbClr val="43505B"/>
              </a:solidFill>
              <a:latin typeface="Aptos "/>
              <a:ea typeface="Roboto" panose="020B0604020202020204"/>
            </a:endParaRPr>
          </a:p>
          <a:p>
            <a:r>
              <a:rPr lang="ru-RU" sz="2400" b="1" i="1" dirty="0" smtClean="0">
                <a:latin typeface="Aptos "/>
                <a:ea typeface="Roboto" panose="020B0604020202020204"/>
              </a:rPr>
              <a:t>на </a:t>
            </a:r>
            <a:r>
              <a:rPr lang="ru-RU" sz="2400" b="1" i="1" dirty="0">
                <a:latin typeface="Aptos "/>
                <a:ea typeface="Roboto" panose="020B0604020202020204"/>
              </a:rPr>
              <a:t>примере ООО «БС-Платформа»</a:t>
            </a:r>
            <a:endParaRPr lang="ru-RU" sz="2400" b="1" dirty="0">
              <a:latin typeface="Aptos "/>
              <a:ea typeface="Roboto" panose="020B060402020202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28160" y="4564743"/>
            <a:ext cx="5609492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650"/>
              </a:lnSpc>
            </a:pPr>
            <a:r>
              <a:rPr lang="en-US" sz="1400" dirty="0" err="1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Курсовая</a:t>
            </a:r>
            <a:r>
              <a:rPr lang="en-US" sz="1400" dirty="0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работа</a:t>
            </a:r>
            <a:r>
              <a:rPr lang="en-US" sz="1400" dirty="0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по</a:t>
            </a:r>
            <a:r>
              <a:rPr lang="en-US" sz="1400" dirty="0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дисциплине</a:t>
            </a:r>
            <a:r>
              <a:rPr lang="en-US" sz="1400" dirty="0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 ОПД.07 </a:t>
            </a:r>
            <a:r>
              <a:rPr lang="en-US" sz="1400" dirty="0" err="1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Экономика</a:t>
            </a:r>
            <a:r>
              <a:rPr lang="en-US" sz="1400" dirty="0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 err="1">
                <a:solidFill>
                  <a:srgbClr val="384653"/>
                </a:solidFill>
                <a:latin typeface="Aptos "/>
                <a:ea typeface="Roboto" pitchFamily="34" charset="-122"/>
                <a:cs typeface="Roboto" pitchFamily="34" charset="-120"/>
              </a:rPr>
              <a:t>отрасли</a:t>
            </a:r>
            <a:endParaRPr lang="en-US" sz="1400" dirty="0">
              <a:latin typeface="Aptos 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40246" y="5312664"/>
            <a:ext cx="4114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E6F80"/>
                </a:solidFill>
                <a:latin typeface="Aptos "/>
              </a:rPr>
              <a:t>Гумаров Т. Р. • </a:t>
            </a:r>
            <a:r>
              <a:rPr lang="en-US" sz="1200" b="1" dirty="0" err="1">
                <a:solidFill>
                  <a:srgbClr val="5E6F80"/>
                </a:solidFill>
                <a:latin typeface="Aptos "/>
              </a:rPr>
              <a:t>группа</a:t>
            </a:r>
            <a:r>
              <a:rPr lang="en-US" sz="1200" b="1" dirty="0">
                <a:solidFill>
                  <a:srgbClr val="5E6F80"/>
                </a:solidFill>
                <a:latin typeface="Aptos "/>
              </a:rPr>
              <a:t> </a:t>
            </a:r>
            <a:r>
              <a:rPr lang="en-US" sz="1200" b="1" dirty="0" smtClean="0">
                <a:solidFill>
                  <a:srgbClr val="5E6F80"/>
                </a:solidFill>
                <a:latin typeface="Aptos "/>
              </a:rPr>
              <a:t>ИС-222б</a:t>
            </a:r>
            <a:endParaRPr lang="en-US" sz="1200" b="1" dirty="0">
              <a:latin typeface="Aptos 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2" r="4126"/>
          <a:stretch/>
        </p:blipFill>
        <p:spPr>
          <a:xfrm>
            <a:off x="-289058" y="-166401"/>
            <a:ext cx="4332794" cy="71332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Актуальность, цель и задачи исследования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10311"/>
            <a:ext cx="1600200" cy="188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Введение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3794760" cy="1828800"/>
          </a:xfrm>
          <a:prstGeom prst="roundRect">
            <a:avLst>
              <a:gd name="adj" fmla="val 4000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1704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Актуальность</a:t>
            </a:r>
            <a:endParaRPr lang="en-US" sz="15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33375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Рост объема корпоративной информации усложняет поиск знаний. Для ООО «БС-Платформа» важны централизация документации, интеллектуальный поиск и снижение времени на повторяющиеся консультации.</a:t>
            </a:r>
            <a:endParaRPr lang="en-US" sz="135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1005840"/>
            <a:ext cx="2880360" cy="1828800"/>
          </a:xfrm>
          <a:prstGeom prst="roundRect">
            <a:avLst>
              <a:gd name="adj" fmla="val 4000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170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Цель работы</a:t>
            </a:r>
            <a:endParaRPr lang="en-US" sz="15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46320" y="1444752"/>
            <a:ext cx="24231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Оценить экономическую целесообразность разработки серверной части системы управления корпоративной базой знаний с чат-ботом.</a:t>
            </a:r>
            <a:endParaRPr lang="en-US" sz="135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8096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59" y="1170432"/>
            <a:ext cx="2224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4766"/>
                </a:solidFill>
                <a:latin typeface="Aptos "/>
              </a:rPr>
              <a:t>Ожидаемый результат</a:t>
            </a:r>
            <a:endParaRPr lang="en-US" sz="15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909559" y="1373656"/>
            <a:ext cx="333756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Aptos "/>
              </a:rPr>
              <a:t>Снижение времени поиска информации, уменьшение нагрузки на опытных специалистов и ускорение онбординга сотрудников.</a:t>
            </a:r>
            <a:endParaRPr lang="en-US" sz="1350" dirty="0">
              <a:latin typeface="Aptos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14952" y="3577235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Задачи исследования</a:t>
            </a:r>
            <a:endParaRPr lang="en-US" sz="1700" dirty="0">
              <a:latin typeface="Aptos "/>
            </a:endParaRPr>
          </a:p>
        </p:txBody>
      </p:sp>
      <p:grpSp>
        <p:nvGrpSpPr>
          <p:cNvPr id="28" name="Группа 27"/>
          <p:cNvGrpSpPr/>
          <p:nvPr/>
        </p:nvGrpSpPr>
        <p:grpSpPr>
          <a:xfrm>
            <a:off x="982980" y="4180738"/>
            <a:ext cx="3108960" cy="1517904"/>
            <a:chOff x="685800" y="3657600"/>
            <a:chExt cx="3108960" cy="1517904"/>
          </a:xfrm>
        </p:grpSpPr>
        <p:sp>
          <p:nvSpPr>
            <p:cNvPr id="16" name="Text 14"/>
            <p:cNvSpPr/>
            <p:nvPr/>
          </p:nvSpPr>
          <p:spPr>
            <a:xfrm>
              <a:off x="68580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01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685800" y="3977640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Теоретическая база</a:t>
              </a:r>
              <a:endParaRPr lang="en-US" sz="1500" dirty="0">
                <a:latin typeface="Aptos 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85800" y="4261104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Рассмотреть состав и структуру собственного и заемного капитала предприятия.</a:t>
              </a:r>
              <a:endParaRPr lang="en-US" sz="1320" dirty="0">
                <a:latin typeface="Aptos "/>
              </a:endParaRPr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4360597" y="4173778"/>
            <a:ext cx="3108960" cy="1418577"/>
            <a:chOff x="3977640" y="3657600"/>
            <a:chExt cx="3108960" cy="1418577"/>
          </a:xfrm>
        </p:grpSpPr>
        <p:sp>
          <p:nvSpPr>
            <p:cNvPr id="19" name="Text 17"/>
            <p:cNvSpPr/>
            <p:nvPr/>
          </p:nvSpPr>
          <p:spPr>
            <a:xfrm>
              <a:off x="397764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02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3977640" y="3986029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Расчет затрат</a:t>
              </a:r>
              <a:endParaRPr lang="en-US" sz="1500" dirty="0">
                <a:latin typeface="Aptos 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3977640" y="4161777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Определить величину затрат на проектирование и разработку системы.</a:t>
              </a:r>
              <a:endParaRPr lang="en-US" sz="1320" dirty="0">
                <a:latin typeface="Aptos "/>
              </a:endParaRPr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8023860" y="4177300"/>
            <a:ext cx="3108960" cy="1517904"/>
            <a:chOff x="7452360" y="3657600"/>
            <a:chExt cx="3108960" cy="1517904"/>
          </a:xfrm>
        </p:grpSpPr>
        <p:sp>
          <p:nvSpPr>
            <p:cNvPr id="22" name="Text 20"/>
            <p:cNvSpPr/>
            <p:nvPr/>
          </p:nvSpPr>
          <p:spPr>
            <a:xfrm>
              <a:off x="7452360" y="3657600"/>
              <a:ext cx="45720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2BA0B0"/>
                  </a:solidFill>
                  <a:latin typeface="Aptos "/>
                </a:rPr>
                <a:t>03</a:t>
              </a:r>
              <a:endParaRPr lang="en-US" sz="1600" dirty="0">
                <a:latin typeface="Aptos 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7452360" y="3977640"/>
              <a:ext cx="288036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500" b="1" dirty="0">
                  <a:solidFill>
                    <a:srgbClr val="2E4766"/>
                  </a:solidFill>
                  <a:latin typeface="Aptos "/>
                </a:rPr>
                <a:t>Эффективность внедрения</a:t>
              </a:r>
            </a:p>
          </p:txBody>
        </p:sp>
        <p:sp>
          <p:nvSpPr>
            <p:cNvPr id="24" name="Text 22"/>
            <p:cNvSpPr/>
            <p:nvPr/>
          </p:nvSpPr>
          <p:spPr>
            <a:xfrm>
              <a:off x="7452360" y="4261104"/>
              <a:ext cx="3108960" cy="914400"/>
            </a:xfrm>
            <a:prstGeom prst="rect">
              <a:avLst/>
            </a:prstGeom>
            <a:noFill/>
            <a:ln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320" dirty="0">
                  <a:solidFill>
                    <a:srgbClr val="334155"/>
                  </a:solidFill>
                  <a:latin typeface="Aptos "/>
                </a:rPr>
                <a:t>Рассчитать годовой экономический эффект, коэффициент эффективности и срок окупаемости.</a:t>
              </a:r>
              <a:endParaRPr lang="en-US" sz="1320" dirty="0">
                <a:latin typeface="Aptos 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Собственный и заемный капитал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 1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00584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2070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766"/>
                </a:solidFill>
                <a:latin typeface="Aptos "/>
              </a:rPr>
              <a:t>Собственный капитал</a:t>
            </a:r>
            <a:endParaRPr lang="en-US" sz="1800" dirty="0">
              <a:latin typeface="Aptos 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1572768"/>
            <a:ext cx="4663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формируется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за счет уставного капитала и прибыли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не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требует возврата и выплаты процентов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снижает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финансовые риски проекта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обеспечивает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контроль над сроками и бюджетом разработки</a:t>
            </a:r>
            <a:endParaRPr lang="en-US" sz="1400" dirty="0">
              <a:latin typeface="Aptos 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46520" y="1207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55944"/>
                </a:solidFill>
                <a:latin typeface="Aptos "/>
              </a:rPr>
              <a:t>Заемный капитал</a:t>
            </a:r>
            <a:endParaRPr lang="en-US" sz="18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46520" y="1572768"/>
            <a:ext cx="457200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привлекается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на условиях возвратности и платности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ускоряет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реализацию крупных проектов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увеличивает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долговую нагрузку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требует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обслуживания процентов и снижает финансовую устойчивость</a:t>
            </a:r>
            <a:endParaRPr lang="en-US" sz="14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5800" y="4069080"/>
            <a:ext cx="10808208" cy="1554480"/>
          </a:xfrm>
          <a:prstGeom prst="roundRect">
            <a:avLst>
              <a:gd name="adj" fmla="val 4706"/>
            </a:avLst>
          </a:prstGeom>
          <a:solidFill>
            <a:srgbClr val="D7EBEF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97680"/>
            <a:ext cx="42213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 smtClean="0">
                <a:solidFill>
                  <a:srgbClr val="2E4766"/>
                </a:solidFill>
                <a:latin typeface="Aptos "/>
              </a:rPr>
              <a:t>Вывод</a:t>
            </a:r>
            <a:r>
              <a:rPr lang="en-US" sz="1700" b="1" dirty="0" smtClean="0">
                <a:solidFill>
                  <a:srgbClr val="2E4766"/>
                </a:solidFill>
                <a:latin typeface="Aptos "/>
              </a:rPr>
              <a:t> </a:t>
            </a:r>
            <a:r>
              <a:rPr lang="en-US" sz="1700" b="1" dirty="0">
                <a:solidFill>
                  <a:srgbClr val="2E4766"/>
                </a:solidFill>
                <a:latin typeface="Aptos "/>
              </a:rPr>
              <a:t>для проекта ООО «БС-Платформа»</a:t>
            </a:r>
            <a:endParaRPr lang="en-US" sz="17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97280" y="4617720"/>
            <a:ext cx="996696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334155"/>
                </a:solidFill>
                <a:latin typeface="Aptos "/>
              </a:rPr>
              <a:t>Разработка ведется силами внутренних специалистов и направлена на оптимизацию внутренних процессов компании, поэтому наиболее рационально использовать собственный капитал предприятия.</a:t>
            </a:r>
            <a:endParaRPr lang="en-US" sz="1420" dirty="0">
              <a:latin typeface="Aptos 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Проект и предметная область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 2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005840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88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ООО «БС-Платформа»</a:t>
            </a:r>
            <a:endParaRPr lang="en-US" sz="17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684803"/>
            <a:ext cx="338328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Компания развивает корпоративные ИТ-решения. Для неё критично быстро находить внутренние инструкции, архитектурные описания и накопленные знания специалистов.</a:t>
            </a:r>
            <a:endParaRPr lang="en-US" sz="14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063240" cy="2240280"/>
          </a:xfrm>
          <a:prstGeom prst="roundRect">
            <a:avLst>
              <a:gd name="adj" fmla="val 3265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1887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5944"/>
                </a:solidFill>
                <a:latin typeface="Aptos "/>
              </a:rPr>
              <a:t>Разрабатываемая система</a:t>
            </a:r>
            <a:endParaRPr lang="en-US" sz="17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9170" y="1709927"/>
            <a:ext cx="2683219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серверная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часть на </a:t>
            </a:r>
            <a:r>
              <a:rPr lang="en-US" sz="1400" dirty="0" err="1">
                <a:solidFill>
                  <a:srgbClr val="334155"/>
                </a:solidFill>
                <a:latin typeface="Aptos "/>
              </a:rPr>
              <a:t>Kotlin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/ Spring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Boot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PostgreSQL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+ MongoDB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интеллектуальный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поиск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чат-бот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для работы с базой знаний</a:t>
            </a:r>
            <a:endParaRPr lang="en-US" sz="14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1005840"/>
            <a:ext cx="3611880" cy="2240280"/>
          </a:xfrm>
          <a:prstGeom prst="roundRect">
            <a:avLst>
              <a:gd name="adj" fmla="val 3265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188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Практический эффект</a:t>
            </a:r>
            <a:endParaRPr lang="en-US" sz="17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61019" y="1729768"/>
            <a:ext cx="3206063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быстрее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поиск информации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меньше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повторных консультаций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ускорение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адаптации новых сотрудников</a:t>
            </a:r>
            <a:endParaRPr lang="en-US" sz="1400" dirty="0">
              <a:latin typeface="Aptos "/>
            </a:endParaRPr>
          </a:p>
          <a:p>
            <a:pPr marL="177800" indent="-177800">
              <a:buSzPct val="100000"/>
              <a:buChar char="•"/>
            </a:pPr>
            <a:r>
              <a:rPr lang="en-US" sz="1400" dirty="0" err="1" smtClean="0">
                <a:solidFill>
                  <a:srgbClr val="334155"/>
                </a:solidFill>
                <a:latin typeface="Aptos "/>
              </a:rPr>
              <a:t>централизованное</a:t>
            </a:r>
            <a:r>
              <a:rPr lang="en-US" sz="14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Aptos "/>
              </a:rPr>
              <a:t>хранение знаний</a:t>
            </a:r>
            <a:endParaRPr lang="en-US" sz="1400" dirty="0">
              <a:latin typeface="Aptos 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552486"/>
            <a:ext cx="300837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Логика ценности проекта</a:t>
            </a:r>
            <a:endParaRPr lang="en-US" sz="1700" dirty="0">
              <a:latin typeface="Aptos 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41148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Разрозненные знания</a:t>
            </a:r>
            <a:endParaRPr lang="en-US" sz="1600" dirty="0">
              <a:latin typeface="Aptos 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069080" y="41148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33672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Интеллектуальный поиск + чат-бот</a:t>
            </a:r>
            <a:endParaRPr lang="en-US" sz="1600" dirty="0">
              <a:latin typeface="Aptos 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909560" y="4114800"/>
            <a:ext cx="2880360" cy="1051560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4416552"/>
            <a:ext cx="2560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Экономия времени и затрат</a:t>
            </a:r>
            <a:endParaRPr lang="en-US" sz="1600" dirty="0">
              <a:latin typeface="Aptos 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Перечень работ по стадиям проектирования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 3.1</a:t>
            </a:r>
            <a:endParaRPr lang="en-US" sz="960" dirty="0">
              <a:latin typeface="Aptos "/>
            </a:endParaRP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36596"/>
              </p:ext>
            </p:extLst>
          </p:nvPr>
        </p:nvGraphicFramePr>
        <p:xfrm>
          <a:off x="548640" y="1737360"/>
          <a:ext cx="6126480" cy="278892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Наименование этапа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Трудоемкость, чел·ч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Удельный вес, %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Исполнители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Проектирование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40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16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Руководитель, 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Разработка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140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56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Тестирование ИС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Оформление документов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8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Итого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250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100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 руководитель, 1 программист</a:t>
                      </a:r>
                      <a:endParaRPr lang="en-US" sz="1250" b="1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2165761396"/>
              </p:ext>
            </p:extLst>
          </p:nvPr>
        </p:nvGraphicFramePr>
        <p:xfrm>
          <a:off x="7086600" y="123444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4"/>
          <p:cNvSpPr/>
          <p:nvPr/>
        </p:nvSpPr>
        <p:spPr>
          <a:xfrm>
            <a:off x="7086600" y="4754880"/>
            <a:ext cx="4389120" cy="822960"/>
          </a:xfrm>
          <a:prstGeom prst="roundRect">
            <a:avLst>
              <a:gd name="adj" fmla="val 8889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315200" y="4965192"/>
            <a:ext cx="3931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20" dirty="0">
                <a:solidFill>
                  <a:srgbClr val="334155"/>
                </a:solidFill>
                <a:latin typeface="Aptos "/>
              </a:rPr>
              <a:t>Наибольшая доля трудозатрат приходится на разработку информационной системы — 140 чел·ч, или 56% от общего объема работ.</a:t>
            </a:r>
            <a:endParaRPr lang="en-US" sz="1320" dirty="0">
              <a:latin typeface="Aptos 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Структура постоянных и переменных издержек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Разделы 3.1–3.2</a:t>
            </a:r>
            <a:endParaRPr lang="en-US" sz="960" dirty="0">
              <a:latin typeface="Aptos 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Постоянные издержки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625790"/>
              </p:ext>
            </p:extLst>
          </p:nvPr>
        </p:nvGraphicFramePr>
        <p:xfrm>
          <a:off x="640080" y="1234440"/>
          <a:ext cx="5166360" cy="1908048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Вид постоянных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Затраты,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Амортизационные отчисления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2 245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Текущий ремонт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561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2 806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8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914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Переменные издержки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527108"/>
              </p:ext>
            </p:extLst>
          </p:nvPr>
        </p:nvGraphicFramePr>
        <p:xfrm>
          <a:off x="6172200" y="1234440"/>
          <a:ext cx="5212080" cy="2633472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Вид переменных издержек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Величина,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Материальные затраты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2 358,24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1,42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Оплата труда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115 575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69,43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Страховые отчисления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34 672,5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20,83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Накладные расходы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13 869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8,33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166 474,74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6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77240" y="4160520"/>
            <a:ext cx="10698480" cy="1115568"/>
          </a:xfrm>
          <a:prstGeom prst="roundRect">
            <a:avLst>
              <a:gd name="adj" fmla="val 6557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05840" y="4389120"/>
            <a:ext cx="1645920" cy="602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Ключевой вывод</a:t>
            </a:r>
            <a:endParaRPr lang="en-US" sz="1600" dirty="0">
              <a:latin typeface="Aptos 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040380" y="4526280"/>
            <a:ext cx="80467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60" dirty="0">
                <a:solidFill>
                  <a:srgbClr val="334155"/>
                </a:solidFill>
                <a:latin typeface="Aptos "/>
              </a:rPr>
              <a:t>В структуре затрат доминируют переменные издержки, прежде всего оплата труда и страховые отчисления. Это типично для ИТ-проектов с высокой долей интеллектуального труда.</a:t>
            </a:r>
            <a:endParaRPr lang="en-US" sz="1360" dirty="0">
              <a:latin typeface="Aptos 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Расчет фонда заработной платы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1031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 3.2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960119"/>
            <a:ext cx="3154680" cy="1590133"/>
          </a:xfrm>
          <a:prstGeom prst="roundRect">
            <a:avLst>
              <a:gd name="adj" fmla="val 551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70432"/>
            <a:ext cx="245797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Исходные данные</a:t>
            </a:r>
            <a:endParaRPr lang="en-US" sz="16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444751"/>
            <a:ext cx="2834640" cy="102412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Часовая ставка программиста: 230 руб./ч</a:t>
            </a:r>
            <a:endParaRPr lang="en-US" sz="1400" dirty="0">
              <a:latin typeface="Aptos 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Оклад куратора: 43 000 руб.</a:t>
            </a:r>
            <a:endParaRPr lang="en-US" sz="1400" dirty="0">
              <a:latin typeface="Aptos 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Премиальный фонд: 15%</a:t>
            </a:r>
            <a:endParaRPr lang="en-US" sz="1400" dirty="0">
              <a:latin typeface="Aptos 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Страховые отчисления: 30%</a:t>
            </a:r>
            <a:endParaRPr lang="en-US" sz="14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69080" y="960120"/>
            <a:ext cx="3657600" cy="1590132"/>
          </a:xfrm>
          <a:prstGeom prst="roundRect">
            <a:avLst>
              <a:gd name="adj" fmla="val 551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79" y="1133393"/>
            <a:ext cx="33111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5944"/>
                </a:solidFill>
                <a:latin typeface="Aptos "/>
              </a:rPr>
              <a:t>Основная заработная плата</a:t>
            </a:r>
            <a:endParaRPr lang="en-US" sz="16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97680" y="1811475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4766"/>
                </a:solidFill>
                <a:latin typeface="Aptos "/>
              </a:rPr>
              <a:t>Зо = 230 × 250 = 57 500 руб.</a:t>
            </a:r>
            <a:endParaRPr lang="en-US" sz="17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55280" y="960120"/>
            <a:ext cx="3566160" cy="1590132"/>
          </a:xfrm>
          <a:prstGeom prst="roundRect">
            <a:avLst>
              <a:gd name="adj" fmla="val 5517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1704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Премиальный фонд</a:t>
            </a:r>
            <a:endParaRPr lang="en-US" sz="16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02168" y="1729179"/>
            <a:ext cx="2926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E4766"/>
                </a:solidFill>
                <a:latin typeface="Aptos "/>
              </a:rPr>
              <a:t>Программист: 8 625 руб.</a:t>
            </a:r>
            <a:endParaRPr lang="en-US" sz="1550" dirty="0">
              <a:latin typeface="Aptos "/>
            </a:endParaRPr>
          </a:p>
          <a:p>
            <a:pPr marL="0" indent="0">
              <a:buNone/>
            </a:pPr>
            <a:r>
              <a:rPr lang="en-US" sz="1550" dirty="0">
                <a:solidFill>
                  <a:srgbClr val="2E4766"/>
                </a:solidFill>
                <a:latin typeface="Aptos "/>
              </a:rPr>
              <a:t>Куратор: 6 450 руб.</a:t>
            </a:r>
            <a:endParaRPr lang="en-US" sz="1550" dirty="0">
              <a:latin typeface="Aptos "/>
            </a:endParaRPr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375287"/>
              </p:ext>
            </p:extLst>
          </p:nvPr>
        </p:nvGraphicFramePr>
        <p:xfrm>
          <a:off x="1714500" y="2822136"/>
          <a:ext cx="8366760" cy="2011680"/>
        </p:xfrm>
        <a:graphic>
          <a:graphicData uri="http://schemas.openxmlformats.org/drawingml/2006/table">
            <a:tbl>
              <a:tblPr>
                <a:tableStyleId>{00A15C55-8517-42AA-B614-E9B94910E393}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Должность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ЗП осн.,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Премиальный фонд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Сумма,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ФСС, руб.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Уд. вес,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Программист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57 500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8 625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66 125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19 837,5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57,21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Куратор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43 000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6 450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49 450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14 835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42,79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Итого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100 500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15 075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115 575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34 672,5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868680" y="5166360"/>
            <a:ext cx="10515600" cy="749808"/>
          </a:xfrm>
          <a:prstGeom prst="roundRect">
            <a:avLst>
              <a:gd name="adj" fmla="val 9756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5394960"/>
            <a:ext cx="99669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60" dirty="0">
                <a:solidFill>
                  <a:srgbClr val="334155"/>
                </a:solidFill>
                <a:latin typeface="Aptos "/>
              </a:rPr>
              <a:t>Фонд оплаты труда проекта: 115 575 руб. Основной вклад в затраты дают заработная плата разработчика и связанные с ней страховые отчисления.</a:t>
            </a:r>
            <a:endParaRPr lang="en-US" sz="1360" dirty="0">
              <a:latin typeface="Aptos 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Годовой экономический эффект от внедрения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2709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 3.3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960120"/>
            <a:ext cx="3657600" cy="2057400"/>
          </a:xfrm>
          <a:prstGeom prst="roundRect">
            <a:avLst>
              <a:gd name="adj" fmla="val 3556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7043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4766"/>
                </a:solidFill>
                <a:latin typeface="Aptos "/>
              </a:rPr>
              <a:t>Изменение времени поиска знаний</a:t>
            </a:r>
            <a:endParaRPr lang="en-US" sz="17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932688" y="1783080"/>
            <a:ext cx="315468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До внедрения — 3 ч/нед.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После внедрения — 0,5 ч/нед.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Экономия — 2,5 ч/нед. на 1 разработчика</a:t>
            </a:r>
            <a:endParaRPr lang="en-US" sz="150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960120"/>
            <a:ext cx="2834640" cy="2057400"/>
          </a:xfrm>
          <a:prstGeom prst="roundRect">
            <a:avLst>
              <a:gd name="adj" fmla="val 3556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101978"/>
            <a:ext cx="2430710" cy="3563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55944"/>
                </a:solidFill>
                <a:latin typeface="Aptos "/>
              </a:rPr>
              <a:t>Исходные параметры</a:t>
            </a:r>
            <a:endParaRPr lang="en-US" sz="17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18888" y="1801368"/>
            <a:ext cx="224028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Ставка: 250 руб./ч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Команда: 5 разработчиков</a:t>
            </a:r>
            <a:endParaRPr lang="en-US" sz="1500" dirty="0">
              <a:latin typeface="Aptos "/>
            </a:endParaRPr>
          </a:p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Aptos "/>
              </a:rPr>
              <a:t>Период: 52 недели</a:t>
            </a:r>
            <a:endParaRPr lang="en-US" sz="150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635240" y="960120"/>
            <a:ext cx="3840480" cy="2057400"/>
          </a:xfrm>
          <a:prstGeom prst="roundRect">
            <a:avLst>
              <a:gd name="adj" fmla="val 3556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2529" y="1080419"/>
            <a:ext cx="3003008" cy="693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 err="1">
                <a:solidFill>
                  <a:srgbClr val="2E4766"/>
                </a:solidFill>
                <a:latin typeface="Aptos "/>
              </a:rPr>
              <a:t>Формула</a:t>
            </a:r>
            <a:r>
              <a:rPr lang="en-US" sz="1700" b="1" dirty="0">
                <a:solidFill>
                  <a:srgbClr val="2E4766"/>
                </a:solidFill>
                <a:latin typeface="Aptos "/>
              </a:rPr>
              <a:t> </a:t>
            </a:r>
            <a:r>
              <a:rPr lang="en-US" sz="1700" b="1" dirty="0" err="1" smtClean="0">
                <a:solidFill>
                  <a:srgbClr val="2E4766"/>
                </a:solidFill>
                <a:latin typeface="Aptos "/>
              </a:rPr>
              <a:t>расчета</a:t>
            </a:r>
            <a:r>
              <a:rPr lang="ru-RU" sz="1700" b="1" dirty="0">
                <a:solidFill>
                  <a:srgbClr val="2E4766"/>
                </a:solidFill>
                <a:latin typeface="Aptos "/>
              </a:rPr>
              <a:t> </a:t>
            </a:r>
            <a:r>
              <a:rPr lang="ru-RU" sz="1700" b="1" dirty="0" smtClean="0">
                <a:solidFill>
                  <a:srgbClr val="2E4766"/>
                </a:solidFill>
                <a:latin typeface="Aptos "/>
              </a:rPr>
              <a:t>экономического эффекта </a:t>
            </a:r>
            <a:endParaRPr lang="en-US" sz="1700" dirty="0">
              <a:latin typeface="Aptos 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852346" y="1988820"/>
            <a:ext cx="362337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smtClean="0">
                <a:solidFill>
                  <a:srgbClr val="2E4766"/>
                </a:solidFill>
                <a:latin typeface="Aptos "/>
              </a:rPr>
              <a:t>Э </a:t>
            </a:r>
            <a:r>
              <a:rPr lang="en-US" sz="1600" b="1" dirty="0">
                <a:solidFill>
                  <a:srgbClr val="2E4766"/>
                </a:solidFill>
                <a:latin typeface="Aptos "/>
              </a:rPr>
              <a:t>= 2,5 × 250 × 5 × 52 = 162 500 руб./</a:t>
            </a:r>
            <a:r>
              <a:rPr lang="en-US" sz="1600" b="1" dirty="0" err="1" smtClean="0">
                <a:solidFill>
                  <a:srgbClr val="2E4766"/>
                </a:solidFill>
                <a:latin typeface="Aptos "/>
              </a:rPr>
              <a:t>годa</a:t>
            </a:r>
            <a:endParaRPr lang="en-US" sz="1600" dirty="0">
              <a:latin typeface="Aptos "/>
            </a:endParaRPr>
          </a:p>
        </p:txBody>
      </p:sp>
      <p:graphicFrame>
        <p:nvGraphicFramePr>
          <p:cNvPr id="16" name="Chart 0"/>
          <p:cNvGraphicFramePr/>
          <p:nvPr>
            <p:extLst>
              <p:ext uri="{D42A27DB-BD31-4B8C-83A1-F6EECF244321}">
                <p14:modId xmlns:p14="http://schemas.microsoft.com/office/powerpoint/2010/main" val="737012702"/>
              </p:ext>
            </p:extLst>
          </p:nvPr>
        </p:nvGraphicFramePr>
        <p:xfrm>
          <a:off x="822960" y="3429000"/>
          <a:ext cx="54864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3"/>
          <p:cNvSpPr/>
          <p:nvPr/>
        </p:nvSpPr>
        <p:spPr>
          <a:xfrm>
            <a:off x="914400" y="31546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Сценарии экономии</a:t>
            </a:r>
            <a:endParaRPr lang="en-US" sz="1600" dirty="0">
              <a:latin typeface="Aptos 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720840" y="3429000"/>
            <a:ext cx="4663440" cy="1965960"/>
          </a:xfrm>
          <a:prstGeom prst="roundRect">
            <a:avLst>
              <a:gd name="adj" fmla="val 3721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949439" y="3607308"/>
            <a:ext cx="1850611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Интерпретация</a:t>
            </a:r>
            <a:endParaRPr lang="en-US" sz="1600" dirty="0">
              <a:latin typeface="Aptos 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949440" y="3950208"/>
            <a:ext cx="4160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Aptos "/>
              </a:rPr>
              <a:t>Для презентации принят средний сценарий: до внедрения сотрудники тратили 3 часа в неделю на поиск информации, после внедрения — 30 минут. Это дает реалистичную годовую экономию 162 500 руб.</a:t>
            </a:r>
            <a:endParaRPr lang="en-US" sz="1400" dirty="0">
              <a:latin typeface="Aptos 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Себестоимость, прибыль и цена системы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1031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Разделы 3.2–3.3</a:t>
            </a:r>
            <a:endParaRPr lang="en-US" sz="960" dirty="0">
              <a:latin typeface="Aptos "/>
            </a:endParaRPr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5024855"/>
              </p:ext>
            </p:extLst>
          </p:nvPr>
        </p:nvGraphicFramePr>
        <p:xfrm>
          <a:off x="731520" y="1143000"/>
          <a:ext cx="51206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537960" y="109728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66560" y="1143000"/>
            <a:ext cx="29443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Полная себестоимость</a:t>
            </a:r>
            <a:endParaRPr lang="en-US" sz="1600" dirty="0">
              <a:latin typeface="Aptos "/>
            </a:endParaRPr>
          </a:p>
        </p:txBody>
      </p:sp>
      <p:sp>
        <p:nvSpPr>
          <p:cNvPr id="9" name="Text 6"/>
          <p:cNvSpPr/>
          <p:nvPr/>
        </p:nvSpPr>
        <p:spPr>
          <a:xfrm>
            <a:off x="6784848" y="15727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4766"/>
                </a:solidFill>
                <a:latin typeface="Aptos "/>
              </a:rPr>
              <a:t>Зоб = 169 280,74 руб.</a:t>
            </a:r>
            <a:endParaRPr lang="en-US" sz="1900" dirty="0">
              <a:latin typeface="Aptos 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37960" y="23317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6560" y="2322576"/>
            <a:ext cx="378679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55944"/>
                </a:solidFill>
                <a:latin typeface="Aptos "/>
              </a:rPr>
              <a:t>Прибыль при рентабельности 10%</a:t>
            </a:r>
            <a:endParaRPr lang="en-US" sz="1600" dirty="0">
              <a:latin typeface="Aptos 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84848" y="28163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4766"/>
                </a:solidFill>
                <a:latin typeface="Aptos "/>
              </a:rPr>
              <a:t>П = 16 928,07 руб.</a:t>
            </a:r>
            <a:endParaRPr lang="en-US" sz="1900" dirty="0">
              <a:latin typeface="Aptos 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537960" y="356616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66560" y="3566160"/>
            <a:ext cx="2944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4766"/>
                </a:solidFill>
                <a:latin typeface="Aptos "/>
              </a:rPr>
              <a:t>Цена системы с НДС 22%</a:t>
            </a:r>
            <a:endParaRPr lang="en-US" sz="1600" dirty="0">
              <a:latin typeface="Aptos 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84848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E4766"/>
                </a:solidFill>
                <a:latin typeface="Aptos "/>
              </a:rPr>
              <a:t>Ц = 227 174,75 руб.</a:t>
            </a:r>
            <a:endParaRPr lang="en-US" sz="1900" dirty="0">
              <a:latin typeface="Aptos 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537960" y="4800600"/>
            <a:ext cx="4754880" cy="868680"/>
          </a:xfrm>
          <a:prstGeom prst="roundRect">
            <a:avLst>
              <a:gd name="adj" fmla="val 8421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5074920"/>
            <a:ext cx="4297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80" dirty="0">
                <a:solidFill>
                  <a:srgbClr val="334155"/>
                </a:solidFill>
                <a:latin typeface="Aptos "/>
              </a:rPr>
              <a:t>Наибольший удельный вес в структуре себестоимости занимают затраты на оплату труда — 68,27%.</a:t>
            </a:r>
            <a:endParaRPr lang="en-US" sz="1380" dirty="0">
              <a:latin typeface="Aptos 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30352"/>
            <a:ext cx="11155680" cy="0"/>
          </a:xfrm>
          <a:prstGeom prst="line">
            <a:avLst/>
          </a:prstGeom>
          <a:noFill/>
          <a:ln w="12700">
            <a:solidFill>
              <a:srgbClr val="D9D4C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8288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4766"/>
                </a:solidFill>
                <a:latin typeface="Aptos "/>
                <a:ea typeface="Aptos" pitchFamily="34" charset="-122"/>
                <a:cs typeface="Aptos" pitchFamily="34" charset="-120"/>
              </a:rPr>
              <a:t>Итоги и выводы</a:t>
            </a:r>
            <a:endParaRPr lang="en-US" sz="2400" dirty="0">
              <a:latin typeface="Aptos 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829800" y="146304"/>
            <a:ext cx="1737360" cy="310896"/>
          </a:xfrm>
          <a:prstGeom prst="roundRect">
            <a:avLst>
              <a:gd name="adj" fmla="val 17647"/>
            </a:avLst>
          </a:prstGeom>
          <a:solidFill>
            <a:srgbClr val="FBF9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93808" y="21031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" dirty="0">
                <a:solidFill>
                  <a:srgbClr val="5E6F80"/>
                </a:solidFill>
                <a:latin typeface="Aptos "/>
                <a:ea typeface="Aptos" pitchFamily="34" charset="-122"/>
                <a:cs typeface="Aptos" pitchFamily="34" charset="-120"/>
              </a:rPr>
              <a:t>Заключение</a:t>
            </a:r>
            <a:endParaRPr lang="en-US" sz="960" dirty="0">
              <a:latin typeface="Aptos 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8F2F5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162 500</a:t>
            </a:r>
            <a:endParaRPr lang="en-US" sz="2600" dirty="0">
              <a:latin typeface="Aptos "/>
            </a:endParaRPr>
          </a:p>
        </p:txBody>
      </p:sp>
      <p:sp>
        <p:nvSpPr>
          <p:cNvPr id="8" name="Text 6"/>
          <p:cNvSpPr/>
          <p:nvPr/>
        </p:nvSpPr>
        <p:spPr>
          <a:xfrm>
            <a:off x="877824" y="182880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годовой экономический эффект, руб.</a:t>
            </a:r>
            <a:endParaRPr lang="en-US" sz="1270" dirty="0">
              <a:latin typeface="Aptos 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06908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EEF3EE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0,96</a:t>
            </a:r>
            <a:endParaRPr lang="en-US" sz="2600" dirty="0">
              <a:latin typeface="Aptos 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215384" y="182880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коэффициент экономической эффективности</a:t>
            </a:r>
            <a:endParaRPr lang="en-US" sz="1270" dirty="0">
              <a:latin typeface="Aptos 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406640" y="1051560"/>
            <a:ext cx="2743200" cy="1508760"/>
          </a:xfrm>
          <a:prstGeom prst="roundRect">
            <a:avLst>
              <a:gd name="adj" fmla="val 4848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4380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E4766"/>
                </a:solidFill>
                <a:latin typeface="Aptos "/>
              </a:rPr>
              <a:t>12,5</a:t>
            </a:r>
            <a:endParaRPr lang="en-US" sz="2600" dirty="0">
              <a:latin typeface="Aptos 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52944" y="1828800"/>
            <a:ext cx="2450592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70" dirty="0">
                <a:solidFill>
                  <a:srgbClr val="334155"/>
                </a:solidFill>
                <a:latin typeface="Aptos "/>
              </a:rPr>
              <a:t>срок окупаемости, мес.</a:t>
            </a:r>
            <a:endParaRPr lang="en-US" sz="1270" dirty="0">
              <a:latin typeface="Aptos 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109728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2004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4766"/>
                </a:solidFill>
                <a:latin typeface="Aptos "/>
              </a:rPr>
              <a:t>Ключевые выводы</a:t>
            </a:r>
            <a:endParaRPr lang="en-US" sz="1800" dirty="0">
              <a:latin typeface="Aptos 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05840" y="3566160"/>
            <a:ext cx="1024128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203200" indent="-203200">
              <a:buSzPct val="100000"/>
              <a:buChar char="•"/>
            </a:pPr>
            <a:r>
              <a:rPr lang="en-US" sz="1500" dirty="0" err="1" smtClean="0">
                <a:solidFill>
                  <a:srgbClr val="334155"/>
                </a:solidFill>
                <a:latin typeface="Aptos "/>
              </a:rPr>
              <a:t>проект</a:t>
            </a:r>
            <a:r>
              <a:rPr lang="en-US" sz="15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финансируется за счет собственного капитала и не увеличивает долговую нагрузку компании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 smtClean="0">
                <a:solidFill>
                  <a:srgbClr val="334155"/>
                </a:solidFill>
                <a:latin typeface="Aptos "/>
              </a:rPr>
              <a:t>себестоимость</a:t>
            </a:r>
            <a:r>
              <a:rPr lang="en-US" sz="15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разработки составила 169 280,74 руб., цена системы — 227 174,75 руб.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 smtClean="0">
                <a:solidFill>
                  <a:srgbClr val="334155"/>
                </a:solidFill>
                <a:latin typeface="Aptos "/>
              </a:rPr>
              <a:t>коэффициент</a:t>
            </a:r>
            <a:r>
              <a:rPr lang="en-US" sz="15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эффективности 0,96 значительно выше нормативного значения 0,15</a:t>
            </a:r>
            <a:endParaRPr lang="en-US" sz="1500" dirty="0">
              <a:latin typeface="Aptos "/>
            </a:endParaRPr>
          </a:p>
          <a:p>
            <a:pPr marL="203200" indent="-203200">
              <a:buSzPct val="100000"/>
              <a:buChar char="•"/>
            </a:pPr>
            <a:r>
              <a:rPr lang="en-US" sz="1500" dirty="0" err="1" smtClean="0">
                <a:solidFill>
                  <a:srgbClr val="334155"/>
                </a:solidFill>
                <a:latin typeface="Aptos "/>
              </a:rPr>
              <a:t>внедрение</a:t>
            </a:r>
            <a:r>
              <a:rPr lang="en-US" sz="1500" dirty="0" smtClean="0">
                <a:solidFill>
                  <a:srgbClr val="334155"/>
                </a:solidFill>
                <a:latin typeface="Aptos "/>
              </a:rPr>
              <a:t> </a:t>
            </a:r>
            <a:r>
              <a:rPr lang="en-US" sz="1500" dirty="0">
                <a:solidFill>
                  <a:srgbClr val="334155"/>
                </a:solidFill>
                <a:latin typeface="Aptos "/>
              </a:rPr>
              <a:t>базы знаний с чат-ботом уменьшает время поиска информации и повышает управляемость корпоративных знаний</a:t>
            </a:r>
            <a:endParaRPr lang="en-US" sz="1500" dirty="0">
              <a:latin typeface="Aptos 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60120" y="5577840"/>
            <a:ext cx="10424160" cy="594360"/>
          </a:xfrm>
          <a:prstGeom prst="roundRect">
            <a:avLst>
              <a:gd name="adj" fmla="val 12308"/>
            </a:avLst>
          </a:prstGeom>
          <a:solidFill>
            <a:srgbClr val="D8EDF0"/>
          </a:solidFill>
          <a:ln w="12700">
            <a:solidFill>
              <a:srgbClr val="D9D4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769864"/>
            <a:ext cx="100584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2E4766"/>
                </a:solidFill>
                <a:latin typeface="Aptos "/>
              </a:rPr>
              <a:t>Вывод: разработка и внедрение серверной части системы управления корпоративной базой знаний для ООО «БС-Платформа» экономически обоснованы.</a:t>
            </a:r>
            <a:endParaRPr lang="en-US" sz="1550" dirty="0">
              <a:latin typeface="Aptos 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896</Words>
  <Application>Microsoft Office PowerPoint</Application>
  <PresentationFormat>Широкоэкранный</PresentationFormat>
  <Paragraphs>212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Aptos </vt:lpstr>
      <vt:lpstr>Arial</vt:lpstr>
      <vt:lpstr>Calibri</vt:lpstr>
      <vt:lpstr>Roboto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курсовой работе — ООО «БС-Платформа»</dc:title>
  <dc:subject>Экономическая эффективность серверной части системы управления корпоративной базой знаний</dc:subject>
  <dc:creator>OpenAI</dc:creator>
  <cp:lastModifiedBy>Гумаров Тимур Рустемович</cp:lastModifiedBy>
  <cp:revision>6</cp:revision>
  <dcterms:created xsi:type="dcterms:W3CDTF">2026-03-23T12:13:33Z</dcterms:created>
  <dcterms:modified xsi:type="dcterms:W3CDTF">2026-03-23T13:22:51Z</dcterms:modified>
</cp:coreProperties>
</file>